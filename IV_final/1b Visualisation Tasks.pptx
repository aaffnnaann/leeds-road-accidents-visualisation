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60" r:id="rId4"/>
    <p:sldId id="261" r:id="rId5"/>
    <p:sldId id="262" r:id="rId6"/>
    <p:sldId id="263" r:id="rId7"/>
    <p:sldId id="266" r:id="rId8"/>
    <p:sldId id="264" r:id="rId9"/>
    <p:sldId id="265" r:id="rId10"/>
    <p:sldId id="267" r:id="rId11"/>
    <p:sldId id="268" r:id="rId12"/>
    <p:sldId id="269" r:id="rId13"/>
    <p:sldId id="270" r:id="rId14"/>
    <p:sldId id="271" r:id="rId15"/>
    <p:sldId id="272" r:id="rId16"/>
    <p:sldId id="275" r:id="rId17"/>
    <p:sldId id="274" r:id="rId18"/>
    <p:sldId id="277" r:id="rId19"/>
    <p:sldId id="278" r:id="rId20"/>
    <p:sldId id="282" r:id="rId21"/>
    <p:sldId id="259" r:id="rId22"/>
    <p:sldId id="279" r:id="rId23"/>
    <p:sldId id="276" r:id="rId24"/>
    <p:sldId id="280" r:id="rId25"/>
    <p:sldId id="281" r:id="rId26"/>
    <p:sldId id="283"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79433" autoAdjust="0"/>
  </p:normalViewPr>
  <p:slideViewPr>
    <p:cSldViewPr>
      <p:cViewPr varScale="1">
        <p:scale>
          <a:sx n="78" d="100"/>
          <a:sy n="78" d="100"/>
        </p:scale>
        <p:origin x="184" y="408"/>
      </p:cViewPr>
      <p:guideLst>
        <p:guide orient="horz" pos="2160"/>
        <p:guide pos="2880"/>
      </p:guideLst>
    </p:cSldViewPr>
  </p:slideViewPr>
  <p:outlineViewPr>
    <p:cViewPr>
      <p:scale>
        <a:sx n="33" d="100"/>
        <a:sy n="33" d="100"/>
      </p:scale>
      <p:origin x="0" y="-5240"/>
    </p:cViewPr>
  </p:outlineViewPr>
  <p:notesTextViewPr>
    <p:cViewPr>
      <p:scale>
        <a:sx n="100" d="100"/>
        <a:sy n="100" d="100"/>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barChart>
        <c:barDir val="col"/>
        <c:grouping val="clustered"/>
        <c:varyColors val="0"/>
        <c:ser>
          <c:idx val="0"/>
          <c:order val="0"/>
          <c:tx>
            <c:strRef>
              <c:f>Sheet1!$B$1</c:f>
              <c:strCache>
                <c:ptCount val="1"/>
                <c:pt idx="0">
                  <c:v>Position in TBHR 2015</c:v>
                </c:pt>
              </c:strCache>
            </c:strRef>
          </c:tx>
          <c:invertIfNegative val="0"/>
          <c:cat>
            <c:strRef>
              <c:f>Sheet1!$A$2:$A$41</c:f>
              <c:strCache>
                <c:ptCount val="40"/>
                <c:pt idx="0">
                  <c:v>AD</c:v>
                </c:pt>
                <c:pt idx="1">
                  <c:v>AS</c:v>
                </c:pt>
                <c:pt idx="2">
                  <c:v>BH</c:v>
                </c:pt>
                <c:pt idx="3">
                  <c:v>BH</c:v>
                </c:pt>
                <c:pt idx="4">
                  <c:v>BH</c:v>
                </c:pt>
                <c:pt idx="5">
                  <c:v>CN</c:v>
                </c:pt>
                <c:pt idx="6">
                  <c:v>DF</c:v>
                </c:pt>
                <c:pt idx="7">
                  <c:v>DG</c:v>
                </c:pt>
                <c:pt idx="8">
                  <c:v>EF</c:v>
                </c:pt>
                <c:pt idx="9">
                  <c:v>ES</c:v>
                </c:pt>
                <c:pt idx="10">
                  <c:v>ET</c:v>
                </c:pt>
                <c:pt idx="11">
                  <c:v>FD</c:v>
                </c:pt>
                <c:pt idx="12">
                  <c:v>GR</c:v>
                </c:pt>
                <c:pt idx="13">
                  <c:v>GR</c:v>
                </c:pt>
                <c:pt idx="14">
                  <c:v>HH</c:v>
                </c:pt>
                <c:pt idx="15">
                  <c:v>HJ</c:v>
                </c:pt>
                <c:pt idx="16">
                  <c:v>HR</c:v>
                </c:pt>
                <c:pt idx="17">
                  <c:v>HT</c:v>
                </c:pt>
                <c:pt idx="18">
                  <c:v>HY</c:v>
                </c:pt>
                <c:pt idx="19">
                  <c:v>JE</c:v>
                </c:pt>
                <c:pt idx="20">
                  <c:v>JT</c:v>
                </c:pt>
                <c:pt idx="21">
                  <c:v>KU</c:v>
                </c:pt>
                <c:pt idx="22">
                  <c:v>LI</c:v>
                </c:pt>
                <c:pt idx="23">
                  <c:v>LY</c:v>
                </c:pt>
                <c:pt idx="24">
                  <c:v>NH</c:v>
                </c:pt>
                <c:pt idx="25">
                  <c:v>NT</c:v>
                </c:pt>
                <c:pt idx="26">
                  <c:v>OI</c:v>
                </c:pt>
                <c:pt idx="27">
                  <c:v>PL</c:v>
                </c:pt>
                <c:pt idx="28">
                  <c:v>PP</c:v>
                </c:pt>
                <c:pt idx="29">
                  <c:v>RG</c:v>
                </c:pt>
                <c:pt idx="30">
                  <c:v>SB</c:v>
                </c:pt>
                <c:pt idx="31">
                  <c:v>SE</c:v>
                </c:pt>
                <c:pt idx="32">
                  <c:v>SE</c:v>
                </c:pt>
                <c:pt idx="33">
                  <c:v>UK</c:v>
                </c:pt>
                <c:pt idx="34">
                  <c:v>WB</c:v>
                </c:pt>
                <c:pt idx="35">
                  <c:v>WH</c:v>
                </c:pt>
                <c:pt idx="36">
                  <c:v>WS</c:v>
                </c:pt>
                <c:pt idx="37">
                  <c:v>XC</c:v>
                </c:pt>
                <c:pt idx="38">
                  <c:v>XD</c:v>
                </c:pt>
                <c:pt idx="39">
                  <c:v>YS</c:v>
                </c:pt>
              </c:strCache>
            </c:strRef>
          </c:cat>
          <c:val>
            <c:numRef>
              <c:f>Sheet1!$B$2:$B$41</c:f>
              <c:numCache>
                <c:formatCode>General</c:formatCode>
                <c:ptCount val="40"/>
                <c:pt idx="0">
                  <c:v>30</c:v>
                </c:pt>
                <c:pt idx="1">
                  <c:v>15</c:v>
                </c:pt>
                <c:pt idx="2">
                  <c:v>26</c:v>
                </c:pt>
                <c:pt idx="3">
                  <c:v>32</c:v>
                </c:pt>
                <c:pt idx="4">
                  <c:v>37</c:v>
                </c:pt>
                <c:pt idx="5">
                  <c:v>17</c:v>
                </c:pt>
                <c:pt idx="6">
                  <c:v>21</c:v>
                </c:pt>
                <c:pt idx="7">
                  <c:v>6</c:v>
                </c:pt>
                <c:pt idx="8">
                  <c:v>31</c:v>
                </c:pt>
                <c:pt idx="9">
                  <c:v>29</c:v>
                </c:pt>
                <c:pt idx="10">
                  <c:v>22</c:v>
                </c:pt>
                <c:pt idx="11">
                  <c:v>3</c:v>
                </c:pt>
                <c:pt idx="12">
                  <c:v>12</c:v>
                </c:pt>
                <c:pt idx="13">
                  <c:v>16</c:v>
                </c:pt>
                <c:pt idx="14">
                  <c:v>9</c:v>
                </c:pt>
                <c:pt idx="15">
                  <c:v>18</c:v>
                </c:pt>
                <c:pt idx="16">
                  <c:v>2</c:v>
                </c:pt>
                <c:pt idx="17">
                  <c:v>7</c:v>
                </c:pt>
                <c:pt idx="18">
                  <c:v>40</c:v>
                </c:pt>
                <c:pt idx="19">
                  <c:v>10</c:v>
                </c:pt>
                <c:pt idx="20">
                  <c:v>4</c:v>
                </c:pt>
                <c:pt idx="21">
                  <c:v>39</c:v>
                </c:pt>
                <c:pt idx="22">
                  <c:v>28</c:v>
                </c:pt>
                <c:pt idx="23">
                  <c:v>20</c:v>
                </c:pt>
                <c:pt idx="24">
                  <c:v>13</c:v>
                </c:pt>
                <c:pt idx="25">
                  <c:v>5</c:v>
                </c:pt>
                <c:pt idx="26">
                  <c:v>34</c:v>
                </c:pt>
                <c:pt idx="27">
                  <c:v>14</c:v>
                </c:pt>
                <c:pt idx="28">
                  <c:v>33</c:v>
                </c:pt>
                <c:pt idx="29">
                  <c:v>25</c:v>
                </c:pt>
                <c:pt idx="30">
                  <c:v>1</c:v>
                </c:pt>
                <c:pt idx="31">
                  <c:v>23</c:v>
                </c:pt>
                <c:pt idx="32">
                  <c:v>36</c:v>
                </c:pt>
                <c:pt idx="33">
                  <c:v>27</c:v>
                </c:pt>
                <c:pt idx="34">
                  <c:v>19</c:v>
                </c:pt>
                <c:pt idx="35">
                  <c:v>35</c:v>
                </c:pt>
                <c:pt idx="36">
                  <c:v>8</c:v>
                </c:pt>
                <c:pt idx="37">
                  <c:v>11</c:v>
                </c:pt>
                <c:pt idx="38">
                  <c:v>24</c:v>
                </c:pt>
                <c:pt idx="39">
                  <c:v>38</c:v>
                </c:pt>
              </c:numCache>
            </c:numRef>
          </c:val>
          <c:extLst>
            <c:ext xmlns:c16="http://schemas.microsoft.com/office/drawing/2014/chart" uri="{C3380CC4-5D6E-409C-BE32-E72D297353CC}">
              <c16:uniqueId val="{00000000-0086-4568-BF12-3F9162646AB8}"/>
            </c:ext>
          </c:extLst>
        </c:ser>
        <c:dLbls>
          <c:showLegendKey val="0"/>
          <c:showVal val="0"/>
          <c:showCatName val="0"/>
          <c:showSerName val="0"/>
          <c:showPercent val="0"/>
          <c:showBubbleSize val="0"/>
        </c:dLbls>
        <c:gapWidth val="150"/>
        <c:axId val="198749184"/>
        <c:axId val="199443200"/>
      </c:barChart>
      <c:catAx>
        <c:axId val="198749184"/>
        <c:scaling>
          <c:orientation val="minMax"/>
        </c:scaling>
        <c:delete val="0"/>
        <c:axPos val="b"/>
        <c:numFmt formatCode="General" sourceLinked="0"/>
        <c:majorTickMark val="out"/>
        <c:minorTickMark val="none"/>
        <c:tickLblPos val="nextTo"/>
        <c:txPr>
          <a:bodyPr/>
          <a:lstStyle/>
          <a:p>
            <a:pPr>
              <a:defRPr sz="1000" baseline="0"/>
            </a:pPr>
            <a:endParaRPr lang="en-US"/>
          </a:p>
        </c:txPr>
        <c:crossAx val="199443200"/>
        <c:crosses val="autoZero"/>
        <c:auto val="1"/>
        <c:lblAlgn val="ctr"/>
        <c:lblOffset val="100"/>
        <c:noMultiLvlLbl val="0"/>
      </c:catAx>
      <c:valAx>
        <c:axId val="199443200"/>
        <c:scaling>
          <c:orientation val="minMax"/>
        </c:scaling>
        <c:delete val="0"/>
        <c:axPos val="l"/>
        <c:majorGridlines/>
        <c:numFmt formatCode="General" sourceLinked="1"/>
        <c:majorTickMark val="out"/>
        <c:minorTickMark val="none"/>
        <c:tickLblPos val="nextTo"/>
        <c:crossAx val="1987491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barChart>
        <c:barDir val="col"/>
        <c:grouping val="clustered"/>
        <c:varyColors val="0"/>
        <c:ser>
          <c:idx val="0"/>
          <c:order val="0"/>
          <c:tx>
            <c:strRef>
              <c:f>Sheet1!$B$1</c:f>
              <c:strCache>
                <c:ptCount val="1"/>
                <c:pt idx="0">
                  <c:v>Distribution of Age Categories, Ben Osmand, 2018</c:v>
                </c:pt>
              </c:strCache>
            </c:strRef>
          </c:tx>
          <c:invertIfNegative val="0"/>
          <c:cat>
            <c:strRef>
              <c:f>Sheet1!$A$2:$A$8</c:f>
              <c:strCache>
                <c:ptCount val="7"/>
                <c:pt idx="0">
                  <c:v>U18</c:v>
                </c:pt>
                <c:pt idx="1">
                  <c:v>U21</c:v>
                </c:pt>
                <c:pt idx="2">
                  <c:v>Open</c:v>
                </c:pt>
                <c:pt idx="3">
                  <c:v>V40</c:v>
                </c:pt>
                <c:pt idx="4">
                  <c:v>V50</c:v>
                </c:pt>
                <c:pt idx="5">
                  <c:v>V60</c:v>
                </c:pt>
                <c:pt idx="6">
                  <c:v>V70</c:v>
                </c:pt>
              </c:strCache>
            </c:strRef>
          </c:cat>
          <c:val>
            <c:numRef>
              <c:f>Sheet1!$B$2:$B$8</c:f>
              <c:numCache>
                <c:formatCode>General</c:formatCode>
                <c:ptCount val="7"/>
                <c:pt idx="0">
                  <c:v>5</c:v>
                </c:pt>
                <c:pt idx="1">
                  <c:v>18</c:v>
                </c:pt>
                <c:pt idx="2">
                  <c:v>36</c:v>
                </c:pt>
                <c:pt idx="3">
                  <c:v>46</c:v>
                </c:pt>
                <c:pt idx="4">
                  <c:v>20</c:v>
                </c:pt>
                <c:pt idx="5">
                  <c:v>16</c:v>
                </c:pt>
                <c:pt idx="6">
                  <c:v>2</c:v>
                </c:pt>
              </c:numCache>
            </c:numRef>
          </c:val>
          <c:extLst>
            <c:ext xmlns:c16="http://schemas.microsoft.com/office/drawing/2014/chart" uri="{C3380CC4-5D6E-409C-BE32-E72D297353CC}">
              <c16:uniqueId val="{00000000-7585-45E0-B00D-A9B0E7F2A827}"/>
            </c:ext>
          </c:extLst>
        </c:ser>
        <c:dLbls>
          <c:showLegendKey val="0"/>
          <c:showVal val="0"/>
          <c:showCatName val="0"/>
          <c:showSerName val="0"/>
          <c:showPercent val="0"/>
          <c:showBubbleSize val="0"/>
        </c:dLbls>
        <c:gapWidth val="150"/>
        <c:axId val="202410624"/>
        <c:axId val="202412416"/>
      </c:barChart>
      <c:catAx>
        <c:axId val="202410624"/>
        <c:scaling>
          <c:orientation val="minMax"/>
        </c:scaling>
        <c:delete val="0"/>
        <c:axPos val="b"/>
        <c:numFmt formatCode="General" sourceLinked="0"/>
        <c:majorTickMark val="out"/>
        <c:minorTickMark val="none"/>
        <c:tickLblPos val="nextTo"/>
        <c:crossAx val="202412416"/>
        <c:crosses val="autoZero"/>
        <c:auto val="1"/>
        <c:lblAlgn val="ctr"/>
        <c:lblOffset val="100"/>
        <c:noMultiLvlLbl val="0"/>
      </c:catAx>
      <c:valAx>
        <c:axId val="202412416"/>
        <c:scaling>
          <c:orientation val="minMax"/>
        </c:scaling>
        <c:delete val="0"/>
        <c:axPos val="l"/>
        <c:majorGridlines/>
        <c:numFmt formatCode="General" sourceLinked="1"/>
        <c:majorTickMark val="out"/>
        <c:minorTickMark val="none"/>
        <c:tickLblPos val="nextTo"/>
        <c:crossAx val="20241062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CFDA5A-6745-42C1-B5D3-D9C0859281C7}" type="datetimeFigureOut">
              <a:rPr lang="en-GB" smtClean="0"/>
              <a:t>02/02/2026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983B10-6238-42F3-AF46-201CD2CA5850}" type="slidenum">
              <a:rPr lang="en-GB" smtClean="0"/>
              <a:t>‹#›</a:t>
            </a:fld>
            <a:endParaRPr lang="en-GB"/>
          </a:p>
        </p:txBody>
      </p:sp>
    </p:spTree>
    <p:extLst>
      <p:ext uri="{BB962C8B-B14F-4D97-AF65-F5344CB8AC3E}">
        <p14:creationId xmlns:p14="http://schemas.microsoft.com/office/powerpoint/2010/main" val="80537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this is not a formal and precise division into independent kinds of tasks. </a:t>
            </a:r>
          </a:p>
          <a:p>
            <a:endParaRPr lang="en-US" dirty="0"/>
          </a:p>
          <a:p>
            <a:r>
              <a:rPr lang="en-US" dirty="0"/>
              <a:t>Sometimes the edges or differences are a little blurry or inexact, and a particular example might be </a:t>
            </a:r>
            <a:r>
              <a:rPr lang="en-US" dirty="0" err="1"/>
              <a:t>categorised</a:t>
            </a:r>
            <a:r>
              <a:rPr lang="en-US" dirty="0"/>
              <a:t> in more than one way. </a:t>
            </a:r>
          </a:p>
          <a:p>
            <a:endParaRPr lang="en-US" dirty="0"/>
          </a:p>
          <a:p>
            <a:r>
              <a:rPr lang="en-US" dirty="0"/>
              <a:t>The point, though, is not such exact division. It is to make us think about how broad or narrow our system design requirements are, before we decide on exact technical details. </a:t>
            </a:r>
          </a:p>
          <a:p>
            <a:endParaRPr lang="en-US" dirty="0"/>
          </a:p>
          <a:p>
            <a:r>
              <a:rPr lang="en-US" dirty="0"/>
              <a:t>In particular, note that these tasks are like design requirements. Each one can be implemented in many different ways, and they are not specific to any one language or toolkit or even type of visualization. </a:t>
            </a:r>
          </a:p>
        </p:txBody>
      </p:sp>
      <p:sp>
        <p:nvSpPr>
          <p:cNvPr id="4" name="Slide Number Placeholder 3"/>
          <p:cNvSpPr>
            <a:spLocks noGrp="1"/>
          </p:cNvSpPr>
          <p:nvPr>
            <p:ph type="sldNum" sz="quarter" idx="5"/>
          </p:nvPr>
        </p:nvSpPr>
        <p:spPr/>
        <p:txBody>
          <a:bodyPr/>
          <a:lstStyle/>
          <a:p>
            <a:fld id="{A4983B10-6238-42F3-AF46-201CD2CA5850}" type="slidenum">
              <a:rPr lang="en-GB" smtClean="0"/>
              <a:t>2</a:t>
            </a:fld>
            <a:endParaRPr lang="en-GB"/>
          </a:p>
        </p:txBody>
      </p:sp>
    </p:spTree>
    <p:extLst>
      <p:ext uri="{BB962C8B-B14F-4D97-AF65-F5344CB8AC3E}">
        <p14:creationId xmlns:p14="http://schemas.microsoft.com/office/powerpoint/2010/main" val="3324509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this was the race data that you were looking at… with position as the height of the bar, and the initials of the name of the runner as the label below each bar.</a:t>
            </a:r>
          </a:p>
          <a:p>
            <a:endParaRPr lang="en-US" dirty="0"/>
          </a:p>
          <a:p>
            <a:r>
              <a:rPr lang="en-US" dirty="0"/>
              <a:t>There are many kinds of searches that a system could support, and we can map out examples of them here</a:t>
            </a:r>
          </a:p>
        </p:txBody>
      </p:sp>
      <p:sp>
        <p:nvSpPr>
          <p:cNvPr id="4" name="Slide Number Placeholder 3"/>
          <p:cNvSpPr>
            <a:spLocks noGrp="1"/>
          </p:cNvSpPr>
          <p:nvPr>
            <p:ph type="sldNum" sz="quarter" idx="5"/>
          </p:nvPr>
        </p:nvSpPr>
        <p:spPr/>
        <p:txBody>
          <a:bodyPr/>
          <a:lstStyle/>
          <a:p>
            <a:fld id="{A4983B10-6238-42F3-AF46-201CD2CA5850}" type="slidenum">
              <a:rPr lang="en-GB" smtClean="0"/>
              <a:t>7</a:t>
            </a:fld>
            <a:endParaRPr lang="en-GB"/>
          </a:p>
        </p:txBody>
      </p:sp>
    </p:spTree>
    <p:extLst>
      <p:ext uri="{BB962C8B-B14F-4D97-AF65-F5344CB8AC3E}">
        <p14:creationId xmlns:p14="http://schemas.microsoft.com/office/powerpoint/2010/main" val="1968635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Noting that it is</a:t>
            </a:r>
            <a:r>
              <a:rPr lang="en-GB" baseline="0"/>
              <a:t> the nature/form of the visualisation that will determine what is meant by ‘location’ – if it is location in the perceived visualisation (or simply a location in a data source)</a:t>
            </a:r>
            <a:endParaRPr lang="en-GB"/>
          </a:p>
        </p:txBody>
      </p:sp>
      <p:sp>
        <p:nvSpPr>
          <p:cNvPr id="4" name="Slide Number Placeholder 3"/>
          <p:cNvSpPr>
            <a:spLocks noGrp="1"/>
          </p:cNvSpPr>
          <p:nvPr>
            <p:ph type="sldNum" sz="quarter" idx="10"/>
          </p:nvPr>
        </p:nvSpPr>
        <p:spPr/>
        <p:txBody>
          <a:bodyPr/>
          <a:lstStyle/>
          <a:p>
            <a:fld id="{A4983B10-6238-42F3-AF46-201CD2CA5850}" type="slidenum">
              <a:rPr lang="en-GB" smtClean="0"/>
              <a:t>8</a:t>
            </a:fld>
            <a:endParaRPr lang="en-GB"/>
          </a:p>
        </p:txBody>
      </p:sp>
    </p:spTree>
    <p:extLst>
      <p:ext uri="{BB962C8B-B14F-4D97-AF65-F5344CB8AC3E}">
        <p14:creationId xmlns:p14="http://schemas.microsoft.com/office/powerpoint/2010/main" val="3082915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Summarise</a:t>
            </a:r>
            <a:r>
              <a:rPr lang="en-US" dirty="0"/>
              <a:t> here means creating something new, in a semi-automatic way, from the raw data items in the set of query results. It might, for example, be a heat map or chart that compresses the set in some useful way, or a simple statistic based on that data set, or even representative sample.</a:t>
            </a:r>
          </a:p>
        </p:txBody>
      </p:sp>
      <p:sp>
        <p:nvSpPr>
          <p:cNvPr id="4" name="Slide Number Placeholder 3"/>
          <p:cNvSpPr>
            <a:spLocks noGrp="1"/>
          </p:cNvSpPr>
          <p:nvPr>
            <p:ph type="sldNum" sz="quarter" idx="5"/>
          </p:nvPr>
        </p:nvSpPr>
        <p:spPr/>
        <p:txBody>
          <a:bodyPr/>
          <a:lstStyle/>
          <a:p>
            <a:fld id="{A4983B10-6238-42F3-AF46-201CD2CA5850}" type="slidenum">
              <a:rPr lang="en-GB" smtClean="0"/>
              <a:t>9</a:t>
            </a:fld>
            <a:endParaRPr lang="en-GB"/>
          </a:p>
        </p:txBody>
      </p:sp>
    </p:spTree>
    <p:extLst>
      <p:ext uri="{BB962C8B-B14F-4D97-AF65-F5344CB8AC3E}">
        <p14:creationId xmlns:p14="http://schemas.microsoft.com/office/powerpoint/2010/main" val="2337153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 make us consider what should be in a generic system that supports the varied tasks described in this lecture</a:t>
            </a:r>
          </a:p>
        </p:txBody>
      </p:sp>
      <p:sp>
        <p:nvSpPr>
          <p:cNvPr id="4" name="Slide Number Placeholder 3"/>
          <p:cNvSpPr>
            <a:spLocks noGrp="1"/>
          </p:cNvSpPr>
          <p:nvPr>
            <p:ph type="sldNum" sz="quarter" idx="5"/>
          </p:nvPr>
        </p:nvSpPr>
        <p:spPr/>
        <p:txBody>
          <a:bodyPr/>
          <a:lstStyle/>
          <a:p>
            <a:fld id="{A4983B10-6238-42F3-AF46-201CD2CA5850}" type="slidenum">
              <a:rPr lang="en-GB" smtClean="0"/>
              <a:t>22</a:t>
            </a:fld>
            <a:endParaRPr lang="en-GB"/>
          </a:p>
        </p:txBody>
      </p:sp>
    </p:spTree>
    <p:extLst>
      <p:ext uri="{BB962C8B-B14F-4D97-AF65-F5344CB8AC3E}">
        <p14:creationId xmlns:p14="http://schemas.microsoft.com/office/powerpoint/2010/main" val="2577406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hope so… as the high level tasks here are basically the same, even if the data and terminology are not the same</a:t>
            </a:r>
          </a:p>
        </p:txBody>
      </p:sp>
      <p:sp>
        <p:nvSpPr>
          <p:cNvPr id="4" name="Slide Number Placeholder 3"/>
          <p:cNvSpPr>
            <a:spLocks noGrp="1"/>
          </p:cNvSpPr>
          <p:nvPr>
            <p:ph type="sldNum" sz="quarter" idx="5"/>
          </p:nvPr>
        </p:nvSpPr>
        <p:spPr/>
        <p:txBody>
          <a:bodyPr/>
          <a:lstStyle/>
          <a:p>
            <a:fld id="{A4983B10-6238-42F3-AF46-201CD2CA5850}" type="slidenum">
              <a:rPr lang="en-GB" smtClean="0"/>
              <a:t>24</a:t>
            </a:fld>
            <a:endParaRPr lang="en-GB"/>
          </a:p>
        </p:txBody>
      </p:sp>
    </p:spTree>
    <p:extLst>
      <p:ext uri="{BB962C8B-B14F-4D97-AF65-F5344CB8AC3E}">
        <p14:creationId xmlns:p14="http://schemas.microsoft.com/office/powerpoint/2010/main" val="10546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Visualisation tasks</a:t>
            </a:r>
          </a:p>
        </p:txBody>
      </p:sp>
    </p:spTree>
    <p:extLst>
      <p:ext uri="{BB962C8B-B14F-4D97-AF65-F5344CB8AC3E}">
        <p14:creationId xmlns:p14="http://schemas.microsoft.com/office/powerpoint/2010/main" val="1682358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3041" t="20253" r="20833" b="1042"/>
          <a:stretch/>
        </p:blipFill>
        <p:spPr bwMode="auto">
          <a:xfrm>
            <a:off x="152399" y="119743"/>
            <a:ext cx="6759427" cy="6281057"/>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
        <p:nvSpPr>
          <p:cNvPr id="3" name="TextBox 2"/>
          <p:cNvSpPr txBox="1"/>
          <p:nvPr/>
        </p:nvSpPr>
        <p:spPr>
          <a:xfrm>
            <a:off x="6911826" y="5539328"/>
            <a:ext cx="2260098" cy="1323439"/>
          </a:xfrm>
          <a:prstGeom prst="rect">
            <a:avLst/>
          </a:prstGeom>
          <a:noFill/>
        </p:spPr>
        <p:txBody>
          <a:bodyPr wrap="square" rtlCol="0">
            <a:spAutoFit/>
          </a:bodyPr>
          <a:lstStyle/>
          <a:p>
            <a:pPr algn="ctr"/>
            <a:r>
              <a:rPr lang="en-GB" sz="1600">
                <a:solidFill>
                  <a:srgbClr val="00B050"/>
                </a:solidFill>
              </a:rPr>
              <a:t>From “Visualisation Analysis &amp; Design”, </a:t>
            </a:r>
          </a:p>
          <a:p>
            <a:pPr algn="ctr"/>
            <a:r>
              <a:rPr lang="en-GB" sz="1600">
                <a:solidFill>
                  <a:srgbClr val="00B050"/>
                </a:solidFill>
              </a:rPr>
              <a:t>T. Munzner, </a:t>
            </a:r>
          </a:p>
          <a:p>
            <a:pPr algn="ctr"/>
            <a:r>
              <a:rPr lang="en-GB" sz="1600">
                <a:solidFill>
                  <a:srgbClr val="00B050"/>
                </a:solidFill>
              </a:rPr>
              <a:t>CRC Press, 2015</a:t>
            </a:r>
          </a:p>
          <a:p>
            <a:pPr algn="ctr"/>
            <a:r>
              <a:rPr lang="en-GB" sz="1600">
                <a:solidFill>
                  <a:srgbClr val="00B050"/>
                </a:solidFill>
              </a:rPr>
              <a:t>(Chapter 3) </a:t>
            </a:r>
          </a:p>
        </p:txBody>
      </p:sp>
    </p:spTree>
    <p:extLst>
      <p:ext uri="{BB962C8B-B14F-4D97-AF65-F5344CB8AC3E}">
        <p14:creationId xmlns:p14="http://schemas.microsoft.com/office/powerpoint/2010/main" val="94932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Three different </a:t>
            </a:r>
            <a:r>
              <a:rPr lang="en-GB" b="1" dirty="0">
                <a:solidFill>
                  <a:srgbClr val="0070C0"/>
                </a:solidFill>
              </a:rPr>
              <a:t>actions</a:t>
            </a:r>
          </a:p>
        </p:txBody>
      </p:sp>
      <p:sp>
        <p:nvSpPr>
          <p:cNvPr id="3" name="Content Placeholder 2"/>
          <p:cNvSpPr>
            <a:spLocks noGrp="1"/>
          </p:cNvSpPr>
          <p:nvPr>
            <p:ph idx="1"/>
          </p:nvPr>
        </p:nvSpPr>
        <p:spPr/>
        <p:txBody>
          <a:bodyPr/>
          <a:lstStyle/>
          <a:p>
            <a:r>
              <a:rPr lang="en-GB" dirty="0"/>
              <a:t>Given a visualisation of a data set, a user can:</a:t>
            </a:r>
          </a:p>
          <a:p>
            <a:pPr lvl="1"/>
            <a:r>
              <a:rPr lang="en-GB" b="1" dirty="0">
                <a:solidFill>
                  <a:srgbClr val="0070C0"/>
                </a:solidFill>
              </a:rPr>
              <a:t>Analyse</a:t>
            </a:r>
            <a:r>
              <a:rPr lang="en-GB" dirty="0"/>
              <a:t>: </a:t>
            </a:r>
          </a:p>
          <a:p>
            <a:pPr lvl="2"/>
            <a:r>
              <a:rPr lang="en-GB" dirty="0"/>
              <a:t>consume or produce</a:t>
            </a:r>
          </a:p>
          <a:p>
            <a:pPr lvl="1"/>
            <a:r>
              <a:rPr lang="en-GB" b="1" dirty="0">
                <a:solidFill>
                  <a:srgbClr val="0070C0"/>
                </a:solidFill>
              </a:rPr>
              <a:t>Search:</a:t>
            </a:r>
            <a:r>
              <a:rPr lang="en-GB" dirty="0"/>
              <a:t> </a:t>
            </a:r>
          </a:p>
          <a:p>
            <a:pPr lvl="2"/>
            <a:r>
              <a:rPr lang="en-GB" dirty="0"/>
              <a:t>location/target  is known/unknown?</a:t>
            </a:r>
          </a:p>
          <a:p>
            <a:pPr lvl="1"/>
            <a:r>
              <a:rPr lang="en-GB" b="1" dirty="0">
                <a:solidFill>
                  <a:srgbClr val="0070C0"/>
                </a:solidFill>
              </a:rPr>
              <a:t>Query:</a:t>
            </a:r>
            <a:r>
              <a:rPr lang="en-GB" dirty="0"/>
              <a:t> </a:t>
            </a:r>
          </a:p>
          <a:p>
            <a:pPr lvl="2"/>
            <a:r>
              <a:rPr lang="en-GB"/>
              <a:t>find specific information about a target</a:t>
            </a:r>
          </a:p>
          <a:p>
            <a:endParaRPr lang="en-GB" dirty="0"/>
          </a:p>
        </p:txBody>
      </p:sp>
    </p:spTree>
    <p:extLst>
      <p:ext uri="{BB962C8B-B14F-4D97-AF65-F5344CB8AC3E}">
        <p14:creationId xmlns:p14="http://schemas.microsoft.com/office/powerpoint/2010/main" val="560952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a:t>
            </a:r>
            <a:r>
              <a:rPr lang="en-GB" b="1" dirty="0">
                <a:solidFill>
                  <a:srgbClr val="0070C0"/>
                </a:solidFill>
              </a:rPr>
              <a:t> Analyse </a:t>
            </a:r>
            <a:r>
              <a:rPr lang="en-GB" dirty="0"/>
              <a:t>action</a:t>
            </a:r>
          </a:p>
        </p:txBody>
      </p:sp>
      <p:sp>
        <p:nvSpPr>
          <p:cNvPr id="3" name="Content Placeholder 2"/>
          <p:cNvSpPr>
            <a:spLocks noGrp="1"/>
          </p:cNvSpPr>
          <p:nvPr>
            <p:ph idx="1"/>
          </p:nvPr>
        </p:nvSpPr>
        <p:spPr>
          <a:xfrm>
            <a:off x="152400" y="1600200"/>
            <a:ext cx="6019800" cy="4525963"/>
          </a:xfrm>
        </p:spPr>
        <p:txBody>
          <a:bodyPr>
            <a:noAutofit/>
          </a:bodyPr>
          <a:lstStyle/>
          <a:p>
            <a:r>
              <a:rPr lang="en-GB" sz="2400" b="1" dirty="0">
                <a:solidFill>
                  <a:srgbClr val="0070C0"/>
                </a:solidFill>
              </a:rPr>
              <a:t>Consuming: </a:t>
            </a:r>
            <a:r>
              <a:rPr lang="en-GB" sz="2400" dirty="0"/>
              <a:t>user simply accesses the data using the visualisation</a:t>
            </a:r>
          </a:p>
          <a:p>
            <a:pPr lvl="2"/>
            <a:r>
              <a:rPr lang="en-GB" sz="2000" dirty="0"/>
              <a:t>to </a:t>
            </a:r>
            <a:r>
              <a:rPr lang="en-GB" sz="2000" b="1" dirty="0">
                <a:solidFill>
                  <a:srgbClr val="0070C0"/>
                </a:solidFill>
              </a:rPr>
              <a:t>discover</a:t>
            </a:r>
            <a:r>
              <a:rPr lang="en-GB" sz="2000" dirty="0"/>
              <a:t> information not known before</a:t>
            </a:r>
          </a:p>
          <a:p>
            <a:pPr lvl="2"/>
            <a:r>
              <a:rPr lang="en-GB" sz="2000" dirty="0"/>
              <a:t>to </a:t>
            </a:r>
            <a:r>
              <a:rPr lang="en-GB" sz="2000" b="1" dirty="0">
                <a:solidFill>
                  <a:srgbClr val="0070C0"/>
                </a:solidFill>
              </a:rPr>
              <a:t>present</a:t>
            </a:r>
            <a:r>
              <a:rPr lang="en-GB" sz="2000" dirty="0"/>
              <a:t> information to another person</a:t>
            </a:r>
          </a:p>
          <a:p>
            <a:pPr lvl="2"/>
            <a:r>
              <a:rPr lang="en-GB" sz="2000" b="1" dirty="0">
                <a:solidFill>
                  <a:srgbClr val="0070C0"/>
                </a:solidFill>
              </a:rPr>
              <a:t>enjoy</a:t>
            </a:r>
            <a:r>
              <a:rPr lang="en-GB" sz="2000" dirty="0"/>
              <a:t> and find something interesting</a:t>
            </a:r>
          </a:p>
          <a:p>
            <a:pPr lvl="2"/>
            <a:endParaRPr lang="en-GB" sz="2000" b="1" dirty="0">
              <a:solidFill>
                <a:srgbClr val="0070C0"/>
              </a:solidFill>
            </a:endParaRPr>
          </a:p>
          <a:p>
            <a:r>
              <a:rPr lang="en-GB" sz="2400" b="1" dirty="0">
                <a:solidFill>
                  <a:srgbClr val="0070C0"/>
                </a:solidFill>
              </a:rPr>
              <a:t>Producing</a:t>
            </a:r>
            <a:r>
              <a:rPr lang="en-GB" sz="2400" dirty="0"/>
              <a:t>: user actively creates something</a:t>
            </a:r>
          </a:p>
          <a:p>
            <a:pPr lvl="2"/>
            <a:r>
              <a:rPr lang="en-GB" sz="2000" b="1" dirty="0">
                <a:solidFill>
                  <a:srgbClr val="0070C0"/>
                </a:solidFill>
              </a:rPr>
              <a:t>annotations</a:t>
            </a:r>
            <a:r>
              <a:rPr lang="en-GB" sz="2000" dirty="0"/>
              <a:t> of the data or the visualisation</a:t>
            </a:r>
          </a:p>
          <a:p>
            <a:pPr lvl="2"/>
            <a:r>
              <a:rPr lang="en-GB" sz="2000" dirty="0"/>
              <a:t>a persistent </a:t>
            </a:r>
            <a:r>
              <a:rPr lang="en-GB" sz="2000" b="1" dirty="0">
                <a:solidFill>
                  <a:srgbClr val="0070C0"/>
                </a:solidFill>
              </a:rPr>
              <a:t>record</a:t>
            </a:r>
            <a:r>
              <a:rPr lang="en-GB" sz="2000" dirty="0"/>
              <a:t> of a visualisation (or aspects thereof)</a:t>
            </a:r>
          </a:p>
          <a:p>
            <a:pPr lvl="2"/>
            <a:r>
              <a:rPr lang="en-GB" sz="2000" b="1" dirty="0">
                <a:solidFill>
                  <a:srgbClr val="0070C0"/>
                </a:solidFill>
              </a:rPr>
              <a:t>derive </a:t>
            </a:r>
            <a:r>
              <a:rPr lang="en-GB" sz="2000" dirty="0"/>
              <a:t>new data based on existing data</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939" t="24891" r="53187" b="43464"/>
          <a:stretch/>
        </p:blipFill>
        <p:spPr bwMode="auto">
          <a:xfrm>
            <a:off x="6324600" y="2209800"/>
            <a:ext cx="2634344" cy="2525487"/>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408750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Running example: Analyse</a:t>
            </a:r>
          </a:p>
        </p:txBody>
      </p:sp>
      <p:sp>
        <p:nvSpPr>
          <p:cNvPr id="3" name="Content Placeholder 2"/>
          <p:cNvSpPr>
            <a:spLocks noGrp="1"/>
          </p:cNvSpPr>
          <p:nvPr>
            <p:ph idx="1"/>
          </p:nvPr>
        </p:nvSpPr>
        <p:spPr>
          <a:xfrm>
            <a:off x="152400" y="1600200"/>
            <a:ext cx="6019800" cy="4876800"/>
          </a:xfrm>
        </p:spPr>
        <p:txBody>
          <a:bodyPr>
            <a:noAutofit/>
          </a:bodyPr>
          <a:lstStyle/>
          <a:p>
            <a:pPr marL="571500" indent="-457200"/>
            <a:r>
              <a:rPr lang="en-GB" sz="2000" b="1" dirty="0">
                <a:solidFill>
                  <a:srgbClr val="0070C0"/>
                </a:solidFill>
              </a:rPr>
              <a:t>Discover: </a:t>
            </a:r>
            <a:r>
              <a:rPr lang="en-GB" sz="2000" dirty="0"/>
              <a:t>did anyone win both the TBHR and the Highland Fling in 2010?</a:t>
            </a:r>
          </a:p>
          <a:p>
            <a:pPr marL="571500" indent="-457200"/>
            <a:r>
              <a:rPr lang="en-GB" sz="2000" b="1" dirty="0">
                <a:solidFill>
                  <a:srgbClr val="0070C0"/>
                </a:solidFill>
              </a:rPr>
              <a:t>Present</a:t>
            </a:r>
            <a:r>
              <a:rPr lang="en-GB" sz="2000" b="1" dirty="0"/>
              <a:t>:</a:t>
            </a:r>
            <a:r>
              <a:rPr lang="en-GB" sz="2000" dirty="0"/>
              <a:t> here are the first </a:t>
            </a:r>
            <a:r>
              <a:rPr lang="en-GB" sz="2000" dirty="0" err="1"/>
              <a:t>Swandling</a:t>
            </a:r>
            <a:r>
              <a:rPr lang="en-GB" sz="2000" dirty="0"/>
              <a:t> club finishers for the TBHR in 2012</a:t>
            </a:r>
          </a:p>
          <a:p>
            <a:pPr marL="571500" indent="-457200"/>
            <a:r>
              <a:rPr lang="en-GB" sz="2000" b="1" dirty="0">
                <a:solidFill>
                  <a:srgbClr val="0070C0"/>
                </a:solidFill>
              </a:rPr>
              <a:t>Enjoy</a:t>
            </a:r>
            <a:r>
              <a:rPr lang="en-GB" sz="2000" dirty="0"/>
              <a:t>: a racer, seeing how races have changed in many years, and looking for anyone they know</a:t>
            </a:r>
          </a:p>
          <a:p>
            <a:pPr marL="571500" indent="-457200"/>
            <a:endParaRPr lang="en-GB" sz="2000" dirty="0"/>
          </a:p>
          <a:p>
            <a:pPr marL="571500" indent="-457200"/>
            <a:r>
              <a:rPr lang="en-GB" sz="2000" b="1" dirty="0">
                <a:solidFill>
                  <a:srgbClr val="0070C0"/>
                </a:solidFill>
              </a:rPr>
              <a:t>Annotate: </a:t>
            </a:r>
            <a:r>
              <a:rPr lang="en-GB" sz="2000" dirty="0"/>
              <a:t>Mary Smith is the same person as Mary </a:t>
            </a:r>
            <a:r>
              <a:rPr lang="en-GB" sz="2000" dirty="0" err="1"/>
              <a:t>Bernados</a:t>
            </a:r>
            <a:endParaRPr lang="en-GB" sz="2000" dirty="0"/>
          </a:p>
          <a:p>
            <a:pPr marL="571500" indent="-457200"/>
            <a:r>
              <a:rPr lang="en-GB" sz="2000" b="1" dirty="0">
                <a:solidFill>
                  <a:srgbClr val="0070C0"/>
                </a:solidFill>
              </a:rPr>
              <a:t>Record: </a:t>
            </a:r>
            <a:r>
              <a:rPr lang="en-GB" sz="2000" dirty="0"/>
              <a:t>this chart on my wall shows how much faster I have become in the Ben Lomond race over the past ten years</a:t>
            </a:r>
          </a:p>
          <a:p>
            <a:pPr marL="571500" indent="-457200"/>
            <a:r>
              <a:rPr lang="en-GB" sz="2000" b="1" dirty="0">
                <a:solidFill>
                  <a:srgbClr val="0070C0"/>
                </a:solidFill>
              </a:rPr>
              <a:t>Derive</a:t>
            </a:r>
            <a:r>
              <a:rPr lang="en-GB" sz="2000" dirty="0"/>
              <a:t>: calculate the percentage of active women in each club in each year</a:t>
            </a:r>
          </a:p>
          <a:p>
            <a:pPr marL="571500" indent="-457200"/>
            <a:endParaRPr lang="en-GB" sz="2000"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939" t="24891" r="53187" b="43464"/>
          <a:stretch/>
        </p:blipFill>
        <p:spPr bwMode="auto">
          <a:xfrm>
            <a:off x="6299200" y="3485243"/>
            <a:ext cx="2634344" cy="2525487"/>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descr="C:\Users\Helen\Desktop\work files\IV-20-21\my resources\runnning sarah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7972" y="1447800"/>
            <a:ext cx="23368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45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The</a:t>
            </a:r>
            <a:r>
              <a:rPr lang="en-GB" b="1">
                <a:solidFill>
                  <a:srgbClr val="0070C0"/>
                </a:solidFill>
              </a:rPr>
              <a:t> Search </a:t>
            </a:r>
            <a:r>
              <a:rPr lang="en-GB"/>
              <a:t>action</a:t>
            </a:r>
            <a:endParaRPr lang="en-GB" b="1">
              <a:solidFill>
                <a:srgbClr val="0070C0"/>
              </a:solidFill>
            </a:endParaRPr>
          </a:p>
        </p:txBody>
      </p:sp>
      <p:sp>
        <p:nvSpPr>
          <p:cNvPr id="3" name="Content Placeholder 2"/>
          <p:cNvSpPr>
            <a:spLocks noGrp="1"/>
          </p:cNvSpPr>
          <p:nvPr>
            <p:ph idx="1"/>
          </p:nvPr>
        </p:nvSpPr>
        <p:spPr>
          <a:xfrm>
            <a:off x="152400" y="1600201"/>
            <a:ext cx="8991600" cy="2743200"/>
          </a:xfrm>
        </p:spPr>
        <p:txBody>
          <a:bodyPr>
            <a:noAutofit/>
          </a:bodyPr>
          <a:lstStyle/>
          <a:p>
            <a:pPr marL="0" indent="0">
              <a:buNone/>
            </a:pPr>
            <a:r>
              <a:rPr lang="en-GB" sz="2800" dirty="0"/>
              <a:t>Locating target of interest in the visualisation</a:t>
            </a:r>
          </a:p>
          <a:p>
            <a:pPr>
              <a:buFont typeface="Arial" charset="0"/>
              <a:buChar char="•"/>
            </a:pPr>
            <a:r>
              <a:rPr lang="en-GB" sz="2800" b="1" dirty="0">
                <a:solidFill>
                  <a:srgbClr val="0070C0"/>
                </a:solidFill>
              </a:rPr>
              <a:t>Lookup</a:t>
            </a:r>
            <a:r>
              <a:rPr lang="en-GB" sz="2800" dirty="0"/>
              <a:t>: target known &amp; location known </a:t>
            </a:r>
            <a:r>
              <a:rPr lang="en-GB" sz="2800" i="1" dirty="0"/>
              <a:t>(where and what)</a:t>
            </a:r>
          </a:p>
          <a:p>
            <a:pPr>
              <a:buFont typeface="Arial" charset="0"/>
              <a:buChar char="•"/>
            </a:pPr>
            <a:r>
              <a:rPr lang="en-GB" sz="2800" b="1" dirty="0">
                <a:solidFill>
                  <a:srgbClr val="0070C0"/>
                </a:solidFill>
              </a:rPr>
              <a:t>Browse:</a:t>
            </a:r>
            <a:r>
              <a:rPr lang="en-GB" sz="2800" dirty="0"/>
              <a:t> target unknown &amp; location known </a:t>
            </a:r>
            <a:r>
              <a:rPr lang="en-GB" sz="2800" i="1" dirty="0"/>
              <a:t>(where)</a:t>
            </a:r>
          </a:p>
          <a:p>
            <a:pPr>
              <a:buFont typeface="Arial" charset="0"/>
              <a:buChar char="•"/>
            </a:pPr>
            <a:r>
              <a:rPr lang="en-GB" sz="2800" b="1" dirty="0">
                <a:solidFill>
                  <a:srgbClr val="0070C0"/>
                </a:solidFill>
              </a:rPr>
              <a:t>Locate:</a:t>
            </a:r>
            <a:r>
              <a:rPr lang="en-GB" sz="2800" dirty="0"/>
              <a:t> target known &amp; location unknown </a:t>
            </a:r>
            <a:r>
              <a:rPr lang="en-GB" sz="2800" i="1" dirty="0"/>
              <a:t>(what)</a:t>
            </a:r>
          </a:p>
          <a:p>
            <a:pPr>
              <a:buFont typeface="Arial" charset="0"/>
              <a:buChar char="•"/>
            </a:pPr>
            <a:r>
              <a:rPr lang="en-GB" sz="2800" b="1" dirty="0">
                <a:solidFill>
                  <a:srgbClr val="0070C0"/>
                </a:solidFill>
              </a:rPr>
              <a:t>Explore:</a:t>
            </a:r>
            <a:r>
              <a:rPr lang="en-GB" sz="2800" dirty="0"/>
              <a:t> target unknown &amp; location unknown</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68" t="60218" r="52012" b="23141"/>
          <a:stretch/>
        </p:blipFill>
        <p:spPr bwMode="auto">
          <a:xfrm>
            <a:off x="2057400" y="4343400"/>
            <a:ext cx="4673186" cy="220980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062632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3795464906"/>
              </p:ext>
            </p:extLst>
          </p:nvPr>
        </p:nvGraphicFramePr>
        <p:xfrm>
          <a:off x="228600" y="457200"/>
          <a:ext cx="8610600" cy="5943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50900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Running example: Search</a:t>
            </a:r>
          </a:p>
        </p:txBody>
      </p:sp>
      <p:sp>
        <p:nvSpPr>
          <p:cNvPr id="3" name="Content Placeholder 2"/>
          <p:cNvSpPr>
            <a:spLocks noGrp="1"/>
          </p:cNvSpPr>
          <p:nvPr>
            <p:ph idx="1"/>
          </p:nvPr>
        </p:nvSpPr>
        <p:spPr>
          <a:xfrm>
            <a:off x="32657" y="1447800"/>
            <a:ext cx="8991600" cy="2743200"/>
          </a:xfrm>
        </p:spPr>
        <p:txBody>
          <a:bodyPr>
            <a:noAutofit/>
          </a:bodyPr>
          <a:lstStyle/>
          <a:p>
            <a:pPr>
              <a:buFont typeface="Arial" charset="0"/>
              <a:buChar char="•"/>
            </a:pPr>
            <a:r>
              <a:rPr lang="en-GB" sz="2800" b="1" dirty="0">
                <a:solidFill>
                  <a:srgbClr val="0070C0"/>
                </a:solidFill>
              </a:rPr>
              <a:t>Lookup</a:t>
            </a:r>
            <a:r>
              <a:rPr lang="en-GB" sz="2800" dirty="0"/>
              <a:t>: what position did John Thomas (JT) come in? </a:t>
            </a:r>
            <a:r>
              <a:rPr lang="en-GB" sz="2800" i="1" dirty="0"/>
              <a:t>(4)</a:t>
            </a:r>
          </a:p>
          <a:p>
            <a:pPr>
              <a:buFont typeface="Arial" charset="0"/>
              <a:buChar char="•"/>
            </a:pPr>
            <a:r>
              <a:rPr lang="en-GB" sz="2800" b="1" dirty="0">
                <a:solidFill>
                  <a:srgbClr val="0070C0"/>
                </a:solidFill>
              </a:rPr>
              <a:t>Browse:</a:t>
            </a:r>
            <a:r>
              <a:rPr lang="en-GB" sz="2800" dirty="0"/>
              <a:t> who won the race? </a:t>
            </a:r>
            <a:r>
              <a:rPr lang="en-GB" sz="2800" i="1" dirty="0"/>
              <a:t>(SB)</a:t>
            </a:r>
          </a:p>
          <a:p>
            <a:pPr>
              <a:buFont typeface="Arial" charset="0"/>
              <a:buChar char="•"/>
            </a:pPr>
            <a:r>
              <a:rPr lang="en-GB" sz="2800" b="1" dirty="0">
                <a:solidFill>
                  <a:srgbClr val="0070C0"/>
                </a:solidFill>
              </a:rPr>
              <a:t>Locate:</a:t>
            </a:r>
            <a:r>
              <a:rPr lang="en-GB" sz="2800" dirty="0"/>
              <a:t> did CG run this year? </a:t>
            </a:r>
            <a:r>
              <a:rPr lang="en-GB" sz="2800" i="1" dirty="0"/>
              <a:t>(no)</a:t>
            </a:r>
          </a:p>
          <a:p>
            <a:pPr>
              <a:buFont typeface="Arial" charset="0"/>
              <a:buChar char="•"/>
            </a:pPr>
            <a:r>
              <a:rPr lang="en-GB" sz="2800" b="1" dirty="0">
                <a:solidFill>
                  <a:srgbClr val="0070C0"/>
                </a:solidFill>
              </a:rPr>
              <a:t>Explore: </a:t>
            </a:r>
            <a:r>
              <a:rPr lang="en-GB" sz="2800" dirty="0"/>
              <a:t>is there any noticeable pattern? </a:t>
            </a:r>
            <a:r>
              <a:rPr lang="en-GB" sz="2800" i="1" dirty="0"/>
              <a:t>(no)</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668" t="60218" r="52012" b="23141"/>
          <a:stretch/>
        </p:blipFill>
        <p:spPr bwMode="auto">
          <a:xfrm>
            <a:off x="2362200" y="4648200"/>
            <a:ext cx="3951515" cy="1868545"/>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37931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a:t>
            </a:r>
            <a:r>
              <a:rPr lang="en-GB" b="1" dirty="0">
                <a:solidFill>
                  <a:srgbClr val="0070C0"/>
                </a:solidFill>
              </a:rPr>
              <a:t> Query </a:t>
            </a:r>
            <a:r>
              <a:rPr lang="en-GB" dirty="0"/>
              <a:t>action</a:t>
            </a:r>
            <a:endParaRPr lang="en-GB" b="1" dirty="0">
              <a:solidFill>
                <a:srgbClr val="0070C0"/>
              </a:solidFill>
            </a:endParaRPr>
          </a:p>
        </p:txBody>
      </p:sp>
      <p:sp>
        <p:nvSpPr>
          <p:cNvPr id="3" name="Content Placeholder 2"/>
          <p:cNvSpPr>
            <a:spLocks noGrp="1"/>
          </p:cNvSpPr>
          <p:nvPr>
            <p:ph idx="1"/>
          </p:nvPr>
        </p:nvSpPr>
        <p:spPr>
          <a:xfrm>
            <a:off x="457200" y="1600201"/>
            <a:ext cx="8229600" cy="3581400"/>
          </a:xfrm>
        </p:spPr>
        <p:txBody>
          <a:bodyPr/>
          <a:lstStyle/>
          <a:p>
            <a:pPr marL="0" indent="0">
              <a:buNone/>
            </a:pPr>
            <a:r>
              <a:rPr lang="en-GB" dirty="0"/>
              <a:t>Once you have found the data you are interested in, what will you do with it?</a:t>
            </a:r>
          </a:p>
          <a:p>
            <a:pPr lvl="1"/>
            <a:r>
              <a:rPr lang="en-GB" b="1" dirty="0">
                <a:solidFill>
                  <a:srgbClr val="0070C0"/>
                </a:solidFill>
              </a:rPr>
              <a:t>Identify:</a:t>
            </a:r>
            <a:r>
              <a:rPr lang="en-GB" dirty="0"/>
              <a:t> get all the information about it</a:t>
            </a:r>
          </a:p>
          <a:p>
            <a:pPr lvl="1"/>
            <a:r>
              <a:rPr lang="en-GB" b="1" dirty="0">
                <a:solidFill>
                  <a:srgbClr val="0070C0"/>
                </a:solidFill>
              </a:rPr>
              <a:t>Compare:</a:t>
            </a:r>
            <a:r>
              <a:rPr lang="en-GB" dirty="0"/>
              <a:t> assess differences between multiple data items</a:t>
            </a:r>
          </a:p>
          <a:p>
            <a:pPr lvl="1"/>
            <a:r>
              <a:rPr lang="en-GB" b="1" dirty="0">
                <a:solidFill>
                  <a:srgbClr val="0070C0"/>
                </a:solidFill>
              </a:rPr>
              <a:t>Summarise:</a:t>
            </a:r>
            <a:r>
              <a:rPr lang="en-GB" dirty="0"/>
              <a:t> produce an overview of multiple data items</a:t>
            </a:r>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5361" t="80656" r="52178" b="4226"/>
          <a:stretch/>
        </p:blipFill>
        <p:spPr bwMode="auto">
          <a:xfrm>
            <a:off x="4648200" y="4770460"/>
            <a:ext cx="4381500" cy="195419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345234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Running example: Query</a:t>
            </a:r>
          </a:p>
        </p:txBody>
      </p:sp>
      <p:sp>
        <p:nvSpPr>
          <p:cNvPr id="3" name="Content Placeholder 2"/>
          <p:cNvSpPr>
            <a:spLocks noGrp="1"/>
          </p:cNvSpPr>
          <p:nvPr>
            <p:ph idx="1"/>
          </p:nvPr>
        </p:nvSpPr>
        <p:spPr>
          <a:xfrm>
            <a:off x="457200" y="1600201"/>
            <a:ext cx="8572500" cy="3581400"/>
          </a:xfrm>
        </p:spPr>
        <p:txBody>
          <a:bodyPr/>
          <a:lstStyle/>
          <a:p>
            <a:r>
              <a:rPr lang="en-GB" b="1" dirty="0">
                <a:solidFill>
                  <a:srgbClr val="0070C0"/>
                </a:solidFill>
              </a:rPr>
              <a:t>Identify:</a:t>
            </a:r>
            <a:r>
              <a:rPr lang="en-GB" dirty="0"/>
              <a:t> What club was the TBHR 2015 winner from?</a:t>
            </a:r>
          </a:p>
          <a:p>
            <a:r>
              <a:rPr lang="en-GB" b="1" dirty="0">
                <a:solidFill>
                  <a:srgbClr val="0070C0"/>
                </a:solidFill>
              </a:rPr>
              <a:t>Compare:</a:t>
            </a:r>
            <a:r>
              <a:rPr lang="en-GB" dirty="0"/>
              <a:t> Was ND faster than DF?</a:t>
            </a:r>
          </a:p>
          <a:p>
            <a:r>
              <a:rPr lang="en-GB" b="1" dirty="0">
                <a:solidFill>
                  <a:srgbClr val="0070C0"/>
                </a:solidFill>
              </a:rPr>
              <a:t>Summarise: </a:t>
            </a:r>
            <a:r>
              <a:rPr lang="en-GB" dirty="0"/>
              <a:t>Of the first ten finishers, three were women</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361" t="80656" r="52178" b="4226"/>
          <a:stretch/>
        </p:blipFill>
        <p:spPr bwMode="auto">
          <a:xfrm>
            <a:off x="3048000" y="4038600"/>
            <a:ext cx="5637998" cy="251460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054694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solidFill>
                  <a:srgbClr val="0070C0"/>
                </a:solidFill>
              </a:rPr>
              <a:t>Targets</a:t>
            </a:r>
          </a:p>
        </p:txBody>
      </p:sp>
      <p:sp>
        <p:nvSpPr>
          <p:cNvPr id="3" name="Content Placeholder 2"/>
          <p:cNvSpPr>
            <a:spLocks noGrp="1"/>
          </p:cNvSpPr>
          <p:nvPr>
            <p:ph idx="1"/>
          </p:nvPr>
        </p:nvSpPr>
        <p:spPr>
          <a:xfrm>
            <a:off x="203200" y="1600200"/>
            <a:ext cx="8915400" cy="4525963"/>
          </a:xfrm>
        </p:spPr>
        <p:txBody>
          <a:bodyPr>
            <a:normAutofit/>
          </a:bodyPr>
          <a:lstStyle/>
          <a:p>
            <a:r>
              <a:rPr lang="en-GB" dirty="0"/>
              <a:t>Targets are the ‘things of interest’ in a visualisation</a:t>
            </a:r>
          </a:p>
          <a:p>
            <a:r>
              <a:rPr lang="en-GB" dirty="0"/>
              <a:t>Targets are not necessarily just the individual data points (although this is common)</a:t>
            </a:r>
          </a:p>
          <a:p>
            <a:pPr lvl="1"/>
            <a:r>
              <a:rPr lang="en-GB" dirty="0"/>
              <a:t>for all data: </a:t>
            </a:r>
            <a:r>
              <a:rPr lang="en-GB" b="1" dirty="0">
                <a:solidFill>
                  <a:srgbClr val="0070C0"/>
                </a:solidFill>
              </a:rPr>
              <a:t>trends, outliers, features</a:t>
            </a:r>
          </a:p>
          <a:p>
            <a:pPr lvl="1"/>
            <a:r>
              <a:rPr lang="en-GB" dirty="0"/>
              <a:t>for attributes: </a:t>
            </a:r>
            <a:r>
              <a:rPr lang="en-GB" b="1" dirty="0">
                <a:solidFill>
                  <a:srgbClr val="0070C0"/>
                </a:solidFill>
              </a:rPr>
              <a:t>distributions, dependencies, correlations, similarities</a:t>
            </a:r>
          </a:p>
          <a:p>
            <a:pPr lvl="1"/>
            <a:r>
              <a:rPr lang="en-GB" dirty="0"/>
              <a:t>for network data: </a:t>
            </a:r>
            <a:r>
              <a:rPr lang="en-GB" b="1" dirty="0">
                <a:solidFill>
                  <a:srgbClr val="0070C0"/>
                </a:solidFill>
              </a:rPr>
              <a:t>topology, paths</a:t>
            </a:r>
          </a:p>
          <a:p>
            <a:pPr lvl="1"/>
            <a:r>
              <a:rPr lang="en-GB" dirty="0"/>
              <a:t>for spatial data: </a:t>
            </a:r>
            <a:r>
              <a:rPr lang="en-GB" b="1" dirty="0">
                <a:solidFill>
                  <a:srgbClr val="0070C0"/>
                </a:solidFill>
              </a:rPr>
              <a:t>shape</a:t>
            </a:r>
          </a:p>
        </p:txBody>
      </p:sp>
    </p:spTree>
    <p:extLst>
      <p:ext uri="{BB962C8B-B14F-4D97-AF65-F5344CB8AC3E}">
        <p14:creationId xmlns:p14="http://schemas.microsoft.com/office/powerpoint/2010/main" val="33183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34400" cy="1143000"/>
          </a:xfrm>
        </p:spPr>
        <p:txBody>
          <a:bodyPr>
            <a:normAutofit fontScale="90000"/>
          </a:bodyPr>
          <a:lstStyle/>
          <a:p>
            <a:r>
              <a:rPr lang="en-GB"/>
              <a:t>Targets (things of interest) over </a:t>
            </a:r>
            <a:r>
              <a:rPr lang="en-GB" i="1"/>
              <a:t>all data</a:t>
            </a:r>
          </a:p>
        </p:txBody>
      </p:sp>
      <p:sp>
        <p:nvSpPr>
          <p:cNvPr id="3" name="Content Placeholder 2"/>
          <p:cNvSpPr>
            <a:spLocks noGrp="1"/>
          </p:cNvSpPr>
          <p:nvPr>
            <p:ph idx="1"/>
          </p:nvPr>
        </p:nvSpPr>
        <p:spPr/>
        <p:txBody>
          <a:bodyPr/>
          <a:lstStyle/>
          <a:p>
            <a:r>
              <a:rPr lang="en-GB" b="1" dirty="0">
                <a:solidFill>
                  <a:srgbClr val="0070C0"/>
                </a:solidFill>
              </a:rPr>
              <a:t>Trends:</a:t>
            </a:r>
            <a:r>
              <a:rPr lang="en-GB" dirty="0"/>
              <a:t> </a:t>
            </a:r>
          </a:p>
          <a:p>
            <a:pPr lvl="1"/>
            <a:r>
              <a:rPr lang="en-GB" dirty="0"/>
              <a:t>patterns: e.g. increase, decrease, plateau, etc.</a:t>
            </a:r>
          </a:p>
          <a:p>
            <a:r>
              <a:rPr lang="en-GB" b="1" dirty="0">
                <a:solidFill>
                  <a:srgbClr val="0070C0"/>
                </a:solidFill>
              </a:rPr>
              <a:t>Outliers:</a:t>
            </a:r>
          </a:p>
          <a:p>
            <a:pPr lvl="1"/>
            <a:r>
              <a:rPr lang="en-GB" dirty="0"/>
              <a:t>data points that don’t fit into an obvious pattern</a:t>
            </a:r>
          </a:p>
          <a:p>
            <a:r>
              <a:rPr lang="en-GB" b="1" dirty="0">
                <a:solidFill>
                  <a:srgbClr val="0070C0"/>
                </a:solidFill>
              </a:rPr>
              <a:t>Features:</a:t>
            </a:r>
          </a:p>
          <a:p>
            <a:pPr lvl="1"/>
            <a:r>
              <a:rPr lang="en-GB" dirty="0"/>
              <a:t>Clusters and other structures of interest, depending on the domain</a:t>
            </a:r>
          </a:p>
          <a:p>
            <a:endParaRPr lang="en-GB"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104" t="29096" r="28556" b="59605"/>
          <a:stretch/>
        </p:blipFill>
        <p:spPr bwMode="auto">
          <a:xfrm>
            <a:off x="4760259" y="5217459"/>
            <a:ext cx="4312655" cy="158750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094962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Running example: Targets over </a:t>
            </a:r>
            <a:r>
              <a:rPr lang="en-GB" i="1"/>
              <a:t>all data</a:t>
            </a:r>
          </a:p>
        </p:txBody>
      </p:sp>
      <p:sp>
        <p:nvSpPr>
          <p:cNvPr id="3" name="Content Placeholder 2"/>
          <p:cNvSpPr>
            <a:spLocks noGrp="1"/>
          </p:cNvSpPr>
          <p:nvPr>
            <p:ph idx="1"/>
          </p:nvPr>
        </p:nvSpPr>
        <p:spPr>
          <a:xfrm>
            <a:off x="457199" y="1600201"/>
            <a:ext cx="8579855" cy="3657600"/>
          </a:xfrm>
        </p:spPr>
        <p:txBody>
          <a:bodyPr>
            <a:normAutofit fontScale="92500" lnSpcReduction="20000"/>
          </a:bodyPr>
          <a:lstStyle/>
          <a:p>
            <a:r>
              <a:rPr lang="en-GB" b="1">
                <a:solidFill>
                  <a:srgbClr val="0070C0"/>
                </a:solidFill>
              </a:rPr>
              <a:t>Trends:</a:t>
            </a:r>
            <a:r>
              <a:rPr lang="en-GB"/>
              <a:t> </a:t>
            </a:r>
          </a:p>
          <a:p>
            <a:pPr lvl="1"/>
            <a:r>
              <a:rPr lang="en-GB"/>
              <a:t>JD’s finishing time in the TBHR decreased suddenly in the early 2010’s , but recovered later in the decade</a:t>
            </a:r>
          </a:p>
          <a:p>
            <a:r>
              <a:rPr lang="en-GB" b="1">
                <a:solidFill>
                  <a:srgbClr val="0070C0"/>
                </a:solidFill>
              </a:rPr>
              <a:t>Outliers:</a:t>
            </a:r>
          </a:p>
          <a:p>
            <a:pPr lvl="1"/>
            <a:r>
              <a:rPr lang="en-GB"/>
              <a:t>the winner’s time in 2015 was much slower than in all other years</a:t>
            </a:r>
          </a:p>
          <a:p>
            <a:r>
              <a:rPr lang="en-GB" b="1">
                <a:solidFill>
                  <a:srgbClr val="0070C0"/>
                </a:solidFill>
              </a:rPr>
              <a:t>Features:</a:t>
            </a:r>
          </a:p>
          <a:p>
            <a:pPr lvl="1"/>
            <a:r>
              <a:rPr lang="en-GB"/>
              <a:t>there are more females finishing in the first 25 places in the past four years than in the whole decade before that</a:t>
            </a:r>
          </a:p>
          <a:p>
            <a:endParaRPr lang="en-GB"/>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104" t="29096" r="28556" b="59605"/>
          <a:stretch/>
        </p:blipFill>
        <p:spPr bwMode="auto">
          <a:xfrm>
            <a:off x="2971800" y="5486399"/>
            <a:ext cx="3322055" cy="1222857"/>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068193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a:t>Targets (things of interest) relating to </a:t>
            </a:r>
            <a:r>
              <a:rPr lang="en-GB" sz="3600" i="1"/>
              <a:t>Attributes</a:t>
            </a:r>
          </a:p>
        </p:txBody>
      </p:sp>
      <p:sp>
        <p:nvSpPr>
          <p:cNvPr id="3" name="Content Placeholder 2"/>
          <p:cNvSpPr>
            <a:spLocks noGrp="1"/>
          </p:cNvSpPr>
          <p:nvPr>
            <p:ph idx="1"/>
          </p:nvPr>
        </p:nvSpPr>
        <p:spPr/>
        <p:txBody>
          <a:bodyPr/>
          <a:lstStyle/>
          <a:p>
            <a:r>
              <a:rPr lang="en-GB" dirty="0"/>
              <a:t>For the values of one attribute: </a:t>
            </a:r>
          </a:p>
          <a:p>
            <a:pPr lvl="1"/>
            <a:r>
              <a:rPr lang="en-GB" b="1" dirty="0">
                <a:solidFill>
                  <a:srgbClr val="0070C0"/>
                </a:solidFill>
              </a:rPr>
              <a:t>distribution</a:t>
            </a:r>
          </a:p>
          <a:p>
            <a:r>
              <a:rPr lang="en-GB" dirty="0"/>
              <a:t>For the values of more than one attribute</a:t>
            </a:r>
          </a:p>
          <a:p>
            <a:pPr lvl="1"/>
            <a:r>
              <a:rPr lang="en-GB" b="1" dirty="0">
                <a:solidFill>
                  <a:srgbClr val="0070C0"/>
                </a:solidFill>
              </a:rPr>
              <a:t>dependency, correlation, similarity</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0248" t="45328" r="20833" b="36849"/>
          <a:stretch/>
        </p:blipFill>
        <p:spPr bwMode="auto">
          <a:xfrm>
            <a:off x="2209800" y="4229100"/>
            <a:ext cx="5006826" cy="2044808"/>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95887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Running example: one attribute target</a:t>
            </a:r>
          </a:p>
        </p:txBody>
      </p:sp>
      <p:sp>
        <p:nvSpPr>
          <p:cNvPr id="3" name="Content Placeholder 2"/>
          <p:cNvSpPr>
            <a:spLocks noGrp="1"/>
          </p:cNvSpPr>
          <p:nvPr>
            <p:ph idx="1"/>
          </p:nvPr>
        </p:nvSpPr>
        <p:spPr>
          <a:xfrm>
            <a:off x="457200" y="1600201"/>
            <a:ext cx="8229600" cy="1905000"/>
          </a:xfrm>
        </p:spPr>
        <p:txBody>
          <a:bodyPr/>
          <a:lstStyle/>
          <a:p>
            <a:r>
              <a:rPr lang="en-GB" b="1">
                <a:solidFill>
                  <a:srgbClr val="0070C0"/>
                </a:solidFill>
              </a:rPr>
              <a:t>Distribution: </a:t>
            </a:r>
            <a:r>
              <a:rPr lang="en-GB"/>
              <a:t>the number of runners per </a:t>
            </a:r>
            <a:r>
              <a:rPr lang="en-GB" i="1"/>
              <a:t>age category</a:t>
            </a:r>
          </a:p>
          <a:p>
            <a:r>
              <a:rPr lang="en-GB" b="1">
                <a:solidFill>
                  <a:srgbClr val="0070C0"/>
                </a:solidFill>
              </a:rPr>
              <a:t>Extremes: </a:t>
            </a:r>
            <a:r>
              <a:rPr lang="en-GB"/>
              <a:t>the number of runners </a:t>
            </a:r>
            <a:r>
              <a:rPr lang="en-GB" i="1"/>
              <a:t>over 70yrs</a:t>
            </a:r>
          </a:p>
          <a:p>
            <a:endParaRPr lang="en-GB" b="1">
              <a:solidFill>
                <a:srgbClr val="0070C0"/>
              </a:solidFill>
            </a:endParaRP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0248" t="45328" r="39855" b="36849"/>
          <a:stretch/>
        </p:blipFill>
        <p:spPr bwMode="auto">
          <a:xfrm>
            <a:off x="7131050" y="4191000"/>
            <a:ext cx="1787936" cy="2133600"/>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5" name="Chart 4"/>
          <p:cNvGraphicFramePr/>
          <p:nvPr>
            <p:extLst>
              <p:ext uri="{D42A27DB-BD31-4B8C-83A1-F6EECF244321}">
                <p14:modId xmlns:p14="http://schemas.microsoft.com/office/powerpoint/2010/main" val="1604157165"/>
              </p:ext>
            </p:extLst>
          </p:nvPr>
        </p:nvGraphicFramePr>
        <p:xfrm>
          <a:off x="381000" y="3429000"/>
          <a:ext cx="6324600" cy="3124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45623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a:t>Many Attribute Targets</a:t>
            </a:r>
          </a:p>
        </p:txBody>
      </p:sp>
      <p:sp>
        <p:nvSpPr>
          <p:cNvPr id="3" name="Content Placeholder 2"/>
          <p:cNvSpPr>
            <a:spLocks noGrp="1"/>
          </p:cNvSpPr>
          <p:nvPr>
            <p:ph idx="1"/>
          </p:nvPr>
        </p:nvSpPr>
        <p:spPr/>
        <p:txBody>
          <a:bodyPr>
            <a:normAutofit lnSpcReduction="10000"/>
          </a:bodyPr>
          <a:lstStyle/>
          <a:p>
            <a:r>
              <a:rPr lang="en-GB" b="1" dirty="0">
                <a:solidFill>
                  <a:srgbClr val="0070C0"/>
                </a:solidFill>
              </a:rPr>
              <a:t>Dependency: </a:t>
            </a:r>
            <a:r>
              <a:rPr lang="en-GB" dirty="0"/>
              <a:t>the value of one attribute can be determined directly by the value of another</a:t>
            </a:r>
            <a:endParaRPr lang="en-GB" b="1" dirty="0">
              <a:solidFill>
                <a:srgbClr val="0070C0"/>
              </a:solidFill>
            </a:endParaRPr>
          </a:p>
          <a:p>
            <a:r>
              <a:rPr lang="en-GB" b="1" dirty="0">
                <a:solidFill>
                  <a:srgbClr val="0070C0"/>
                </a:solidFill>
              </a:rPr>
              <a:t>Correlation: </a:t>
            </a:r>
            <a:r>
              <a:rPr lang="en-GB" dirty="0"/>
              <a:t>there is a tendency for the value of one attribute to be linked to the value of another</a:t>
            </a:r>
            <a:endParaRPr lang="en-GB" b="1" dirty="0">
              <a:solidFill>
                <a:srgbClr val="0070C0"/>
              </a:solidFill>
            </a:endParaRPr>
          </a:p>
          <a:p>
            <a:r>
              <a:rPr lang="en-GB" b="1" dirty="0">
                <a:solidFill>
                  <a:srgbClr val="0070C0"/>
                </a:solidFill>
              </a:rPr>
              <a:t>Similarity</a:t>
            </a:r>
            <a:r>
              <a:rPr lang="en-GB" dirty="0"/>
              <a:t>: attributes ranked according to their similarity (as defined by quantitative aggregates) </a:t>
            </a:r>
            <a:endParaRPr lang="en-GB" b="1" dirty="0">
              <a:solidFill>
                <a:srgbClr val="0070C0"/>
              </a:solidFill>
            </a:endParaRP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9043" t="48354" r="20833" b="41317"/>
          <a:stretch/>
        </p:blipFill>
        <p:spPr bwMode="auto">
          <a:xfrm>
            <a:off x="5352303" y="5373215"/>
            <a:ext cx="3693123" cy="1256185"/>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714177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a:t>Running example: many Attribute Targets</a:t>
            </a:r>
          </a:p>
        </p:txBody>
      </p:sp>
      <p:sp>
        <p:nvSpPr>
          <p:cNvPr id="3" name="Content Placeholder 2"/>
          <p:cNvSpPr>
            <a:spLocks noGrp="1"/>
          </p:cNvSpPr>
          <p:nvPr>
            <p:ph idx="1"/>
          </p:nvPr>
        </p:nvSpPr>
        <p:spPr/>
        <p:txBody>
          <a:bodyPr>
            <a:normAutofit lnSpcReduction="10000"/>
          </a:bodyPr>
          <a:lstStyle/>
          <a:p>
            <a:r>
              <a:rPr lang="en-GB" b="1" dirty="0">
                <a:solidFill>
                  <a:srgbClr val="0070C0"/>
                </a:solidFill>
              </a:rPr>
              <a:t>Dependency: </a:t>
            </a:r>
            <a:r>
              <a:rPr lang="en-GB" dirty="0"/>
              <a:t>a runner’s category (e.g. M40) is directly dependent on age &amp; gender (</a:t>
            </a:r>
            <a:r>
              <a:rPr lang="en-GB" dirty="0" err="1"/>
              <a:t>e.g</a:t>
            </a:r>
            <a:r>
              <a:rPr lang="en-GB" dirty="0"/>
              <a:t> 42yrs, male)</a:t>
            </a:r>
            <a:endParaRPr lang="en-GB" b="1" dirty="0">
              <a:solidFill>
                <a:srgbClr val="0070C0"/>
              </a:solidFill>
            </a:endParaRPr>
          </a:p>
          <a:p>
            <a:r>
              <a:rPr lang="en-GB" b="1" dirty="0">
                <a:solidFill>
                  <a:srgbClr val="0070C0"/>
                </a:solidFill>
              </a:rPr>
              <a:t>Correlation: </a:t>
            </a:r>
            <a:r>
              <a:rPr lang="en-GB" dirty="0"/>
              <a:t>there is a trend for a runner’s finishing time to relate to their weight</a:t>
            </a:r>
            <a:endParaRPr lang="en-GB" b="1" dirty="0">
              <a:solidFill>
                <a:srgbClr val="0070C0"/>
              </a:solidFill>
            </a:endParaRPr>
          </a:p>
          <a:p>
            <a:r>
              <a:rPr lang="en-GB" b="1" dirty="0">
                <a:solidFill>
                  <a:srgbClr val="0070C0"/>
                </a:solidFill>
              </a:rPr>
              <a:t>Similarity: </a:t>
            </a:r>
            <a:r>
              <a:rPr lang="en-GB" dirty="0"/>
              <a:t>the average finish time for the Ben </a:t>
            </a:r>
            <a:r>
              <a:rPr lang="en-GB" dirty="0" err="1"/>
              <a:t>Osmand</a:t>
            </a:r>
            <a:r>
              <a:rPr lang="en-GB" dirty="0"/>
              <a:t> Race is closer to the average finish time for the Ben Styles Race than it is to the Ben </a:t>
            </a:r>
            <a:r>
              <a:rPr lang="en-GB" dirty="0" err="1"/>
              <a:t>Rinnes</a:t>
            </a:r>
            <a:r>
              <a:rPr lang="en-GB" dirty="0"/>
              <a:t> Race</a:t>
            </a:r>
            <a:endParaRPr lang="en-GB" b="1" dirty="0">
              <a:solidFill>
                <a:srgbClr val="0070C0"/>
              </a:solidFill>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9043" t="48354" r="20833" b="41317"/>
          <a:stretch/>
        </p:blipFill>
        <p:spPr bwMode="auto">
          <a:xfrm>
            <a:off x="5352303" y="5373215"/>
            <a:ext cx="3693123" cy="1256185"/>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88216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dirty="0"/>
              <a:t>Targets (things of interest) </a:t>
            </a:r>
            <a:r>
              <a:rPr lang="en-GB" sz="3600" i="1" dirty="0"/>
              <a:t>in specific data sets</a:t>
            </a:r>
          </a:p>
        </p:txBody>
      </p:sp>
      <p:sp>
        <p:nvSpPr>
          <p:cNvPr id="3" name="Content Placeholder 2"/>
          <p:cNvSpPr>
            <a:spLocks noGrp="1"/>
          </p:cNvSpPr>
          <p:nvPr>
            <p:ph idx="1"/>
          </p:nvPr>
        </p:nvSpPr>
        <p:spPr/>
        <p:txBody>
          <a:bodyPr/>
          <a:lstStyle/>
          <a:p>
            <a:r>
              <a:rPr lang="en-GB" dirty="0"/>
              <a:t>For network data</a:t>
            </a:r>
          </a:p>
          <a:p>
            <a:pPr lvl="1"/>
            <a:r>
              <a:rPr lang="en-GB" b="1" dirty="0">
                <a:solidFill>
                  <a:srgbClr val="0070C0"/>
                </a:solidFill>
              </a:rPr>
              <a:t>topology </a:t>
            </a:r>
            <a:r>
              <a:rPr lang="en-GB" dirty="0"/>
              <a:t>(structure of the network)</a:t>
            </a:r>
          </a:p>
          <a:p>
            <a:pPr lvl="1"/>
            <a:r>
              <a:rPr lang="en-GB" b="1" dirty="0">
                <a:solidFill>
                  <a:srgbClr val="0070C0"/>
                </a:solidFill>
              </a:rPr>
              <a:t>paths </a:t>
            </a:r>
            <a:r>
              <a:rPr lang="en-GB" dirty="0"/>
              <a:t>(sequences of connections between nodes)</a:t>
            </a:r>
            <a:endParaRPr lang="en-GB" b="1" dirty="0">
              <a:solidFill>
                <a:srgbClr val="0070C0"/>
              </a:solidFill>
            </a:endParaRPr>
          </a:p>
          <a:p>
            <a:r>
              <a:rPr lang="en-GB" dirty="0"/>
              <a:t>For spatial data</a:t>
            </a:r>
          </a:p>
          <a:p>
            <a:pPr lvl="1"/>
            <a:r>
              <a:rPr lang="en-GB" b="1" dirty="0">
                <a:solidFill>
                  <a:srgbClr val="0070C0"/>
                </a:solidFill>
              </a:rPr>
              <a:t>Shape </a:t>
            </a:r>
            <a:r>
              <a:rPr lang="en-GB" dirty="0"/>
              <a:t>(intersection, containment…)</a:t>
            </a:r>
            <a:endParaRPr lang="en-GB" dirty="0">
              <a:solidFill>
                <a:srgbClr val="0070C0"/>
              </a:solidFill>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244" t="64584" r="34145" b="1043"/>
          <a:stretch/>
        </p:blipFill>
        <p:spPr bwMode="auto">
          <a:xfrm>
            <a:off x="6629400" y="3438629"/>
            <a:ext cx="2431344" cy="3144733"/>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898983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a:t>Running example: Specific data set targets</a:t>
            </a:r>
          </a:p>
        </p:txBody>
      </p:sp>
      <p:sp>
        <p:nvSpPr>
          <p:cNvPr id="3" name="Content Placeholder 2"/>
          <p:cNvSpPr>
            <a:spLocks noGrp="1"/>
          </p:cNvSpPr>
          <p:nvPr>
            <p:ph idx="1"/>
          </p:nvPr>
        </p:nvSpPr>
        <p:spPr>
          <a:xfrm>
            <a:off x="311856" y="1618199"/>
            <a:ext cx="7079544" cy="4525963"/>
          </a:xfrm>
        </p:spPr>
        <p:txBody>
          <a:bodyPr>
            <a:normAutofit fontScale="85000" lnSpcReduction="10000"/>
          </a:bodyPr>
          <a:lstStyle/>
          <a:p>
            <a:r>
              <a:rPr lang="en-GB" dirty="0"/>
              <a:t>Network of run-buddies</a:t>
            </a:r>
          </a:p>
          <a:p>
            <a:pPr lvl="1"/>
            <a:r>
              <a:rPr lang="en-GB" b="1" dirty="0">
                <a:solidFill>
                  <a:srgbClr val="0070C0"/>
                </a:solidFill>
              </a:rPr>
              <a:t>topology: </a:t>
            </a:r>
            <a:r>
              <a:rPr lang="en-GB" dirty="0"/>
              <a:t>are there small groups of runners who always train with each other? If so, how many?</a:t>
            </a:r>
          </a:p>
          <a:p>
            <a:pPr lvl="1"/>
            <a:r>
              <a:rPr lang="en-GB" b="1" dirty="0">
                <a:solidFill>
                  <a:srgbClr val="0070C0"/>
                </a:solidFill>
              </a:rPr>
              <a:t>paths: </a:t>
            </a:r>
            <a:r>
              <a:rPr lang="en-GB" dirty="0"/>
              <a:t>if JH has training advice that he gives to the people he trains with, will that advice get to BK?</a:t>
            </a:r>
            <a:endParaRPr lang="en-GB" b="1" dirty="0">
              <a:solidFill>
                <a:srgbClr val="0070C0"/>
              </a:solidFill>
            </a:endParaRPr>
          </a:p>
          <a:p>
            <a:r>
              <a:rPr lang="en-GB" dirty="0"/>
              <a:t>A race where runners have to pass through a set of checkpoints</a:t>
            </a:r>
          </a:p>
          <a:p>
            <a:pPr lvl="1"/>
            <a:r>
              <a:rPr lang="en-GB" b="1" dirty="0">
                <a:solidFill>
                  <a:srgbClr val="0070C0"/>
                </a:solidFill>
              </a:rPr>
              <a:t>shape: </a:t>
            </a:r>
            <a:r>
              <a:rPr lang="en-GB" dirty="0"/>
              <a:t>what is the perimeter length of the shape created by these checkpoints, when they are connected by straight lines on a map?</a:t>
            </a:r>
            <a:endParaRPr lang="en-GB" b="1" dirty="0">
              <a:solidFill>
                <a:srgbClr val="0070C0"/>
              </a:solidFill>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244" t="64584" r="34145" b="1043"/>
          <a:stretch/>
        </p:blipFill>
        <p:spPr bwMode="auto">
          <a:xfrm>
            <a:off x="7364506" y="2320221"/>
            <a:ext cx="1714500" cy="2217558"/>
          </a:xfrm>
          <a:prstGeom prst="rect">
            <a:avLst/>
          </a:prstGeom>
          <a:noFill/>
          <a:ln w="28575">
            <a:solidFill>
              <a:srgbClr val="00B05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77786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normAutofit/>
          </a:bodyPr>
          <a:lstStyle/>
          <a:p>
            <a:pPr marL="0" indent="0">
              <a:buNone/>
            </a:pPr>
            <a:r>
              <a:rPr lang="en-GB">
                <a:solidFill>
                  <a:srgbClr val="7030A0"/>
                </a:solidFill>
              </a:rPr>
              <a:t>Why is it useful to describe data types and visualisation tasks in such an abstract way?</a:t>
            </a:r>
          </a:p>
          <a:p>
            <a:pPr marL="0" indent="0">
              <a:buNone/>
            </a:pPr>
            <a:endParaRPr lang="en-GB"/>
          </a:p>
        </p:txBody>
      </p:sp>
    </p:spTree>
    <p:extLst>
      <p:ext uri="{BB962C8B-B14F-4D97-AF65-F5344CB8AC3E}">
        <p14:creationId xmlns:p14="http://schemas.microsoft.com/office/powerpoint/2010/main" val="4278561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normAutofit/>
          </a:bodyPr>
          <a:lstStyle/>
          <a:p>
            <a:pPr marL="0" indent="0">
              <a:buNone/>
            </a:pPr>
            <a:r>
              <a:rPr lang="en-GB" dirty="0">
                <a:solidFill>
                  <a:srgbClr val="7030A0"/>
                </a:solidFill>
              </a:rPr>
              <a:t>Why is it useful to describe data types and visualisation tasks in such an abstract way?</a:t>
            </a:r>
          </a:p>
          <a:p>
            <a:pPr marL="0" indent="0">
              <a:buNone/>
            </a:pPr>
            <a:endParaRPr lang="en-GB" dirty="0"/>
          </a:p>
          <a:p>
            <a:r>
              <a:rPr lang="en-GB" dirty="0"/>
              <a:t>It is always good to pause and think about your data, and its use</a:t>
            </a:r>
          </a:p>
          <a:p>
            <a:r>
              <a:rPr lang="en-GB" dirty="0"/>
              <a:t>Decisions you make in your visualisation for one domain can be compared or used with those needed for another domain</a:t>
            </a:r>
          </a:p>
        </p:txBody>
      </p:sp>
    </p:spTree>
    <p:extLst>
      <p:ext uri="{BB962C8B-B14F-4D97-AF65-F5344CB8AC3E}">
        <p14:creationId xmlns:p14="http://schemas.microsoft.com/office/powerpoint/2010/main" val="3540711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Running example scenario</a:t>
            </a:r>
          </a:p>
        </p:txBody>
      </p:sp>
      <p:sp>
        <p:nvSpPr>
          <p:cNvPr id="3" name="Content Placeholder 2"/>
          <p:cNvSpPr>
            <a:spLocks noGrp="1"/>
          </p:cNvSpPr>
          <p:nvPr>
            <p:ph idx="1"/>
          </p:nvPr>
        </p:nvSpPr>
        <p:spPr/>
        <p:txBody>
          <a:bodyPr>
            <a:normAutofit lnSpcReduction="10000"/>
          </a:bodyPr>
          <a:lstStyle/>
          <a:p>
            <a:pPr marL="0" indent="0">
              <a:buNone/>
            </a:pPr>
            <a:r>
              <a:rPr lang="en-GB" dirty="0"/>
              <a:t>I want to join a Hill Running Club that has an equal balance of gender membership, a wide distribution of members with different age categories, some very fast runners, and a dense network of run-buddies.</a:t>
            </a:r>
          </a:p>
          <a:p>
            <a:pPr marL="0" indent="0">
              <a:buNone/>
            </a:pPr>
            <a:endParaRPr lang="en-GB" dirty="0"/>
          </a:p>
          <a:p>
            <a:pPr marL="0" indent="0">
              <a:buNone/>
            </a:pPr>
            <a:r>
              <a:rPr lang="en-GB" i="1" dirty="0"/>
              <a:t>A generic visualisation tool that supports a good variety of tasks should allow me to find this information easily</a:t>
            </a:r>
          </a:p>
        </p:txBody>
      </p:sp>
    </p:spTree>
    <p:extLst>
      <p:ext uri="{BB962C8B-B14F-4D97-AF65-F5344CB8AC3E}">
        <p14:creationId xmlns:p14="http://schemas.microsoft.com/office/powerpoint/2010/main" val="363353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6324600"/>
          </a:xfrm>
        </p:spPr>
        <p:txBody>
          <a:bodyPr>
            <a:noAutofit/>
          </a:bodyPr>
          <a:lstStyle/>
          <a:p>
            <a:pPr marL="0" indent="0" algn="ctr">
              <a:buNone/>
            </a:pPr>
            <a:r>
              <a:rPr lang="en-GB" sz="2800" dirty="0"/>
              <a:t>Looking for a </a:t>
            </a:r>
            <a:r>
              <a:rPr lang="en-GB" sz="2800" dirty="0">
                <a:solidFill>
                  <a:srgbClr val="0070C0"/>
                </a:solidFill>
              </a:rPr>
              <a:t>data item </a:t>
            </a:r>
            <a:r>
              <a:rPr lang="en-GB" sz="2800" dirty="0"/>
              <a:t>(club) which is a </a:t>
            </a:r>
            <a:r>
              <a:rPr lang="en-GB" sz="2800" dirty="0">
                <a:solidFill>
                  <a:srgbClr val="0070C0"/>
                </a:solidFill>
              </a:rPr>
              <a:t>categorical attribute </a:t>
            </a:r>
            <a:r>
              <a:rPr lang="en-GB" sz="2800" dirty="0"/>
              <a:t>of other </a:t>
            </a:r>
            <a:r>
              <a:rPr lang="en-GB" sz="2800" dirty="0">
                <a:solidFill>
                  <a:srgbClr val="0070C0"/>
                </a:solidFill>
              </a:rPr>
              <a:t>data items </a:t>
            </a:r>
            <a:r>
              <a:rPr lang="en-GB" sz="2800" dirty="0"/>
              <a:t>(runners).</a:t>
            </a:r>
          </a:p>
          <a:p>
            <a:endParaRPr lang="en-GB" sz="2400" dirty="0"/>
          </a:p>
          <a:p>
            <a:r>
              <a:rPr lang="en-GB" sz="2400" dirty="0"/>
              <a:t>Looking at the frequencies of an </a:t>
            </a:r>
            <a:r>
              <a:rPr lang="en-GB" sz="2400" dirty="0">
                <a:solidFill>
                  <a:srgbClr val="0070C0"/>
                </a:solidFill>
              </a:rPr>
              <a:t>attribute </a:t>
            </a:r>
            <a:r>
              <a:rPr lang="en-GB" sz="2400" dirty="0"/>
              <a:t>(distribution of the genders of the members) for each of a set of </a:t>
            </a:r>
            <a:r>
              <a:rPr lang="en-GB" sz="2400" dirty="0">
                <a:solidFill>
                  <a:srgbClr val="0070C0"/>
                </a:solidFill>
              </a:rPr>
              <a:t>data items </a:t>
            </a:r>
            <a:r>
              <a:rPr lang="en-GB" sz="2400" dirty="0"/>
              <a:t>in a </a:t>
            </a:r>
            <a:r>
              <a:rPr lang="en-GB" sz="2400" dirty="0">
                <a:solidFill>
                  <a:srgbClr val="0070C0"/>
                </a:solidFill>
              </a:rPr>
              <a:t>table</a:t>
            </a:r>
            <a:r>
              <a:rPr lang="en-GB" sz="2400" dirty="0"/>
              <a:t> (clubs), and </a:t>
            </a:r>
            <a:r>
              <a:rPr lang="en-GB" sz="2400" dirty="0">
                <a:solidFill>
                  <a:srgbClr val="0070C0"/>
                </a:solidFill>
              </a:rPr>
              <a:t>compare</a:t>
            </a:r>
            <a:r>
              <a:rPr lang="en-GB" sz="2400" dirty="0"/>
              <a:t>.</a:t>
            </a:r>
          </a:p>
          <a:p>
            <a:r>
              <a:rPr lang="en-GB" sz="2400" dirty="0"/>
              <a:t>Looking at the frequencies of an </a:t>
            </a:r>
            <a:r>
              <a:rPr lang="en-GB" sz="2400" dirty="0">
                <a:solidFill>
                  <a:srgbClr val="0070C0"/>
                </a:solidFill>
              </a:rPr>
              <a:t>attribute</a:t>
            </a:r>
            <a:r>
              <a:rPr lang="en-GB" sz="2400" dirty="0"/>
              <a:t> (distribution of the age categories of the members) for each of a set of </a:t>
            </a:r>
            <a:r>
              <a:rPr lang="en-GB" sz="2400" dirty="0">
                <a:solidFill>
                  <a:srgbClr val="0070C0"/>
                </a:solidFill>
              </a:rPr>
              <a:t>data items </a:t>
            </a:r>
            <a:r>
              <a:rPr lang="en-GB" sz="2400" dirty="0"/>
              <a:t>in a </a:t>
            </a:r>
            <a:r>
              <a:rPr lang="en-GB" sz="2400" dirty="0">
                <a:solidFill>
                  <a:srgbClr val="0070C0"/>
                </a:solidFill>
              </a:rPr>
              <a:t>table</a:t>
            </a:r>
            <a:r>
              <a:rPr lang="en-GB" sz="2400" dirty="0"/>
              <a:t> (clubs), and </a:t>
            </a:r>
            <a:r>
              <a:rPr lang="en-GB" sz="2400" dirty="0">
                <a:solidFill>
                  <a:srgbClr val="0070C0"/>
                </a:solidFill>
              </a:rPr>
              <a:t>compare</a:t>
            </a:r>
            <a:r>
              <a:rPr lang="en-GB" sz="2400" dirty="0"/>
              <a:t>.</a:t>
            </a:r>
          </a:p>
          <a:p>
            <a:r>
              <a:rPr lang="en-GB" sz="2400" dirty="0">
                <a:solidFill>
                  <a:srgbClr val="0070C0"/>
                </a:solidFill>
              </a:rPr>
              <a:t>Deriving</a:t>
            </a:r>
            <a:r>
              <a:rPr lang="en-GB" sz="2400" dirty="0"/>
              <a:t> new data (calculating the average) of a </a:t>
            </a:r>
            <a:r>
              <a:rPr lang="en-GB" sz="2400" dirty="0">
                <a:solidFill>
                  <a:srgbClr val="0070C0"/>
                </a:solidFill>
              </a:rPr>
              <a:t>quantitative attribute </a:t>
            </a:r>
            <a:r>
              <a:rPr lang="en-GB" sz="2400" dirty="0"/>
              <a:t>(finishing position) for each of a set of </a:t>
            </a:r>
            <a:r>
              <a:rPr lang="en-GB" sz="2400" dirty="0">
                <a:solidFill>
                  <a:srgbClr val="0070C0"/>
                </a:solidFill>
              </a:rPr>
              <a:t>data items </a:t>
            </a:r>
            <a:r>
              <a:rPr lang="en-GB" sz="2400" dirty="0"/>
              <a:t>in a </a:t>
            </a:r>
            <a:r>
              <a:rPr lang="en-GB" sz="2400" dirty="0">
                <a:solidFill>
                  <a:srgbClr val="0070C0"/>
                </a:solidFill>
              </a:rPr>
              <a:t>multi-dimensional table </a:t>
            </a:r>
            <a:r>
              <a:rPr lang="en-GB" sz="2400" dirty="0"/>
              <a:t>(runners in clubs), and </a:t>
            </a:r>
            <a:r>
              <a:rPr lang="en-GB" sz="2400" dirty="0">
                <a:solidFill>
                  <a:srgbClr val="0070C0"/>
                </a:solidFill>
              </a:rPr>
              <a:t>compare</a:t>
            </a:r>
            <a:r>
              <a:rPr lang="en-GB" sz="2400" dirty="0"/>
              <a:t>.</a:t>
            </a:r>
          </a:p>
          <a:p>
            <a:r>
              <a:rPr lang="en-GB" sz="2400" dirty="0"/>
              <a:t>Looking at the structure of a set of </a:t>
            </a:r>
            <a:r>
              <a:rPr lang="en-GB" sz="2400" dirty="0">
                <a:solidFill>
                  <a:srgbClr val="0070C0"/>
                </a:solidFill>
              </a:rPr>
              <a:t>networks</a:t>
            </a:r>
            <a:r>
              <a:rPr lang="en-GB" sz="2400" dirty="0"/>
              <a:t> (run-buddies) to </a:t>
            </a:r>
            <a:r>
              <a:rPr lang="en-GB" sz="2400" dirty="0">
                <a:solidFill>
                  <a:srgbClr val="0070C0"/>
                </a:solidFill>
              </a:rPr>
              <a:t>identify</a:t>
            </a:r>
            <a:r>
              <a:rPr lang="en-GB" sz="2400" dirty="0"/>
              <a:t> information about them (the extent of connectivity), and </a:t>
            </a:r>
            <a:r>
              <a:rPr lang="en-GB" sz="2400" dirty="0">
                <a:solidFill>
                  <a:srgbClr val="0070C0"/>
                </a:solidFill>
              </a:rPr>
              <a:t>compare.</a:t>
            </a:r>
          </a:p>
          <a:p>
            <a:endParaRPr lang="en-GB" sz="2400" dirty="0"/>
          </a:p>
        </p:txBody>
      </p:sp>
    </p:spTree>
    <p:extLst>
      <p:ext uri="{BB962C8B-B14F-4D97-AF65-F5344CB8AC3E}">
        <p14:creationId xmlns:p14="http://schemas.microsoft.com/office/powerpoint/2010/main" val="144781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similar example</a:t>
            </a:r>
          </a:p>
        </p:txBody>
      </p:sp>
      <p:sp>
        <p:nvSpPr>
          <p:cNvPr id="3" name="Content Placeholder 2"/>
          <p:cNvSpPr>
            <a:spLocks noGrp="1"/>
          </p:cNvSpPr>
          <p:nvPr>
            <p:ph idx="1"/>
          </p:nvPr>
        </p:nvSpPr>
        <p:spPr/>
        <p:txBody>
          <a:bodyPr>
            <a:normAutofit fontScale="92500" lnSpcReduction="10000"/>
          </a:bodyPr>
          <a:lstStyle/>
          <a:p>
            <a:pPr marL="0" indent="0">
              <a:buNone/>
            </a:pPr>
            <a:r>
              <a:rPr lang="en-GB" dirty="0"/>
              <a:t>I need to choose which companies to apply to for a job. I want a company that offers relatively high salaries for the sector and has strong social ties between its employees. I would like there to be an equal gender balance, and for there to be options for me to work in different countries. </a:t>
            </a:r>
          </a:p>
          <a:p>
            <a:pPr marL="0" indent="0">
              <a:buNone/>
            </a:pPr>
            <a:endParaRPr lang="en-GB" dirty="0"/>
          </a:p>
          <a:p>
            <a:pPr marL="0" indent="0">
              <a:buNone/>
            </a:pPr>
            <a:r>
              <a:rPr lang="en-GB" i="1" dirty="0"/>
              <a:t>If I load the relevant data into the same visualisation system, will I be able to find this information easily?</a:t>
            </a:r>
          </a:p>
          <a:p>
            <a:pPr marL="0" indent="0">
              <a:buNone/>
            </a:pPr>
            <a:endParaRPr lang="en-GB" dirty="0"/>
          </a:p>
        </p:txBody>
      </p:sp>
    </p:spTree>
    <p:extLst>
      <p:ext uri="{BB962C8B-B14F-4D97-AF65-F5344CB8AC3E}">
        <p14:creationId xmlns:p14="http://schemas.microsoft.com/office/powerpoint/2010/main" val="418128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Summary</a:t>
            </a:r>
          </a:p>
        </p:txBody>
      </p:sp>
      <p:sp>
        <p:nvSpPr>
          <p:cNvPr id="3" name="Content Placeholder 2"/>
          <p:cNvSpPr>
            <a:spLocks noGrp="1"/>
          </p:cNvSpPr>
          <p:nvPr>
            <p:ph idx="1"/>
          </p:nvPr>
        </p:nvSpPr>
        <p:spPr>
          <a:xfrm>
            <a:off x="457200" y="1600200"/>
            <a:ext cx="8305800" cy="4876800"/>
          </a:xfrm>
        </p:spPr>
        <p:txBody>
          <a:bodyPr>
            <a:normAutofit fontScale="92500" lnSpcReduction="10000"/>
          </a:bodyPr>
          <a:lstStyle/>
          <a:p>
            <a:r>
              <a:rPr lang="en-GB" b="1" dirty="0">
                <a:solidFill>
                  <a:srgbClr val="0070C0"/>
                </a:solidFill>
              </a:rPr>
              <a:t>Actions</a:t>
            </a:r>
            <a:r>
              <a:rPr lang="en-GB" dirty="0"/>
              <a:t> (verbs): things a user can do</a:t>
            </a:r>
          </a:p>
          <a:p>
            <a:pPr lvl="1"/>
            <a:r>
              <a:rPr lang="en-GB" dirty="0"/>
              <a:t>analyse, search, query</a:t>
            </a:r>
          </a:p>
          <a:p>
            <a:r>
              <a:rPr lang="en-GB" b="1" dirty="0">
                <a:solidFill>
                  <a:srgbClr val="0070C0"/>
                </a:solidFill>
              </a:rPr>
              <a:t>Targets</a:t>
            </a:r>
            <a:r>
              <a:rPr lang="en-GB" dirty="0"/>
              <a:t> (nouns): things a user can be interested in</a:t>
            </a:r>
          </a:p>
          <a:p>
            <a:pPr lvl="1"/>
            <a:r>
              <a:rPr lang="en-GB" dirty="0"/>
              <a:t>all data </a:t>
            </a:r>
          </a:p>
          <a:p>
            <a:pPr lvl="2"/>
            <a:r>
              <a:rPr lang="en-GB" b="1" dirty="0">
                <a:solidFill>
                  <a:srgbClr val="0070C0"/>
                </a:solidFill>
              </a:rPr>
              <a:t>trends, outliers, features</a:t>
            </a:r>
          </a:p>
          <a:p>
            <a:pPr lvl="1"/>
            <a:r>
              <a:rPr lang="en-GB" dirty="0"/>
              <a:t>attributes </a:t>
            </a:r>
          </a:p>
          <a:p>
            <a:pPr lvl="2"/>
            <a:r>
              <a:rPr lang="en-GB" b="1" dirty="0">
                <a:solidFill>
                  <a:srgbClr val="0070C0"/>
                </a:solidFill>
              </a:rPr>
              <a:t>distribution, dependency, correlation, similarity</a:t>
            </a:r>
          </a:p>
          <a:p>
            <a:pPr lvl="1"/>
            <a:r>
              <a:rPr lang="en-GB" dirty="0"/>
              <a:t>networks </a:t>
            </a:r>
          </a:p>
          <a:p>
            <a:pPr lvl="2"/>
            <a:r>
              <a:rPr lang="en-GB" b="1" dirty="0">
                <a:solidFill>
                  <a:srgbClr val="0070C0"/>
                </a:solidFill>
              </a:rPr>
              <a:t>topology, paths</a:t>
            </a:r>
          </a:p>
          <a:p>
            <a:pPr lvl="1"/>
            <a:r>
              <a:rPr lang="en-GB" dirty="0"/>
              <a:t>spatial data </a:t>
            </a:r>
          </a:p>
          <a:p>
            <a:pPr lvl="2"/>
            <a:r>
              <a:rPr lang="en-GB" b="1" dirty="0">
                <a:solidFill>
                  <a:srgbClr val="0070C0"/>
                </a:solidFill>
              </a:rPr>
              <a:t>shape</a:t>
            </a:r>
          </a:p>
        </p:txBody>
      </p:sp>
    </p:spTree>
    <p:extLst>
      <p:ext uri="{BB962C8B-B14F-4D97-AF65-F5344CB8AC3E}">
        <p14:creationId xmlns:p14="http://schemas.microsoft.com/office/powerpoint/2010/main" val="1591120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Visualisation tasks</a:t>
            </a:r>
          </a:p>
        </p:txBody>
      </p:sp>
    </p:spTree>
    <p:extLst>
      <p:ext uri="{BB962C8B-B14F-4D97-AF65-F5344CB8AC3E}">
        <p14:creationId xmlns:p14="http://schemas.microsoft.com/office/powerpoint/2010/main" val="4135214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13352</TotalTime>
  <Words>1638</Words>
  <Application>Microsoft Macintosh PowerPoint</Application>
  <PresentationFormat>On-screen Show (4:3)</PresentationFormat>
  <Paragraphs>154</Paragraphs>
  <Slides>26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Visualisation tasks</vt:lpstr>
      <vt:lpstr>PowerPoint Presentation</vt:lpstr>
      <vt:lpstr>Three different actions</vt:lpstr>
      <vt:lpstr>The Analyse action</vt:lpstr>
      <vt:lpstr>Running example: Analyse</vt:lpstr>
      <vt:lpstr>The Search action</vt:lpstr>
      <vt:lpstr>PowerPoint Presentation</vt:lpstr>
      <vt:lpstr>Running example: Search</vt:lpstr>
      <vt:lpstr>The Query action</vt:lpstr>
      <vt:lpstr>Running example: Query</vt:lpstr>
      <vt:lpstr>Targets</vt:lpstr>
      <vt:lpstr>Targets (things of interest) over all data</vt:lpstr>
      <vt:lpstr>Running example: Targets over all data</vt:lpstr>
      <vt:lpstr>Targets (things of interest) relating to Attributes</vt:lpstr>
      <vt:lpstr>Running example: one attribute target</vt:lpstr>
      <vt:lpstr>Many Attribute Targets</vt:lpstr>
      <vt:lpstr>Running example: many Attribute Targets</vt:lpstr>
      <vt:lpstr>Targets (things of interest) in specific data sets</vt:lpstr>
      <vt:lpstr>Running example: Specific data set targets</vt:lpstr>
      <vt:lpstr>PowerPoint Presentation</vt:lpstr>
      <vt:lpstr>PowerPoint Presentation</vt:lpstr>
      <vt:lpstr>Running example scenario</vt:lpstr>
      <vt:lpstr>PowerPoint Presentation</vt:lpstr>
      <vt:lpstr>A similar example</vt:lpstr>
      <vt:lpstr>Summary</vt:lpstr>
      <vt:lpstr>Visualisation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dc:creator>
  <cp:lastModifiedBy>Matthew Chalmers</cp:lastModifiedBy>
  <cp:revision>64</cp:revision>
  <dcterms:created xsi:type="dcterms:W3CDTF">2006-08-16T00:00:00Z</dcterms:created>
  <dcterms:modified xsi:type="dcterms:W3CDTF">2026-02-03T15:59:53Z</dcterms:modified>
</cp:coreProperties>
</file>